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0" name="Shape 12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Shape 1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One-line pitch: assistants retrieve relevant information, but nobody checks if it applies to this user's situation. ClauseStream is that missing check, added as a plug-in.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" name="Shape 1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Each existing approach solves part of the problem. None answers: does this rule apply to this user right now?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Shape 1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Stress: we do not replace the assistant. Existing assistant + ClauseStream plugin = context-aware responses.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3" name="Shape 2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Walk the 6 steps left to right, top row then bottom row. They match the pipeline strip in the live prototype. Key differentiator is delta re-evaluation.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3" name="Shape 2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Live demo: pick Samsung Care in the dropdown and press Play demo. Key moments: step 2 asks instead of guessing; step 4 revises the answer and re-checks only 2 of 4 clauses. Then show the Hinglish chip and Test verifier.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3" name="Shape 3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Be precise: everything in the cards is implemented. The italic line is the production roadmap, not part of the prototype.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58" name="Shape 3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Go deep on the Care example, then show the same engine handles company travel policy. Next domains: HR, finance, product support, compliance.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6" name="Shape 3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We do not claim nobody has done any of these individually. The contribution is the combination, packaged as an on-device plug-in.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5" name="Shape 4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four metrics are what we will benchmark against an LLM + RAG baseline. The three boxes are real prototype facts: 6 automated engine tests pass; in the demos each new fact re-checks 1 to 2 of 4 clauses.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4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8" name="Shape 4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Owning limitations makes the project look more credible. End on the reliability message.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4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7" name="Shape 4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Phase 1 is what the prototype does today. Phase 2 and 3 are plans, including the FastAPI backend and real-LLM benchmark.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4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99" name="Shape 4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228600"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Memorable line: Relevant is not the same as Applicable.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7" name="Shape 5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1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28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406400" indent="-355600" algn="ctr">
              <a:buClrTx/>
              <a:buSzTx/>
              <a:buFontTx/>
              <a:buNone/>
              <a:defRPr sz="2400"/>
            </a:lvl1pPr>
            <a:lvl2pPr marL="406400" indent="127000" algn="ctr">
              <a:buClrTx/>
              <a:buSzTx/>
              <a:buFontTx/>
              <a:buNone/>
              <a:defRPr sz="2400"/>
            </a:lvl2pPr>
            <a:lvl3pPr marL="406400" indent="609600" algn="ctr">
              <a:buClrTx/>
              <a:buSzTx/>
              <a:buFontTx/>
              <a:buNone/>
              <a:defRPr sz="2400"/>
            </a:lvl3pPr>
            <a:lvl4pPr marL="406400" indent="1079500" algn="ctr">
              <a:buClrTx/>
              <a:buSzTx/>
              <a:buFontTx/>
              <a:buNone/>
              <a:defRPr sz="2400"/>
            </a:lvl4pPr>
            <a:lvl5pPr marL="406400" indent="1536700" algn="ctr">
              <a:buClrTx/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7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6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Google Shape;37;p18"/>
          <p:cNvSpPr txBox="1"/>
          <p:nvPr>
            <p:ph type="body" sz="half" idx="2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 sz="2400"/>
            </a:lvl1pPr>
            <a:lvl2pPr marL="228600" indent="457200">
              <a:buClrTx/>
              <a:buSzTx/>
              <a:buFontTx/>
              <a:buNone/>
              <a:defRPr b="1" sz="2400"/>
            </a:lvl2pPr>
            <a:lvl3pPr marL="228600" indent="914400">
              <a:buClrTx/>
              <a:buSzTx/>
              <a:buFontTx/>
              <a:buNone/>
              <a:defRPr b="1" sz="2400"/>
            </a:lvl3pPr>
            <a:lvl4pPr marL="228600" indent="1371600">
              <a:buClrTx/>
              <a:buSzTx/>
              <a:buFontTx/>
              <a:buNone/>
              <a:defRPr b="1" sz="2400"/>
            </a:lvl4pPr>
            <a:lvl5pPr marL="228600" indent="1828800">
              <a:buClrTx/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Google Shape;44;p19"/>
          <p:cNvSpPr txBox="1"/>
          <p:nvPr>
            <p:ph type="body" sz="half" idx="21"/>
          </p:nvPr>
        </p:nvSpPr>
        <p:spPr>
          <a:xfrm>
            <a:off x="839787" y="2505075"/>
            <a:ext cx="5157789" cy="3684588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58" name="Google Shape;45;p19"/>
          <p:cNvSpPr txBox="1"/>
          <p:nvPr>
            <p:ph type="body" sz="quarter" idx="22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 sz="2400"/>
            </a:pPr>
          </a:p>
        </p:txBody>
      </p:sp>
      <p:sp>
        <p:nvSpPr>
          <p:cNvPr id="59" name="Google Shape;46;p19"/>
          <p:cNvSpPr txBox="1"/>
          <p:nvPr>
            <p:ph type="body" sz="half" idx="23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indent="-342900"/>
          </a:p>
        </p:txBody>
      </p:sp>
      <p:sp>
        <p:nvSpPr>
          <p:cNvPr id="60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 indent="-431800">
              <a:buSzPts val="3200"/>
              <a:defRPr sz="3200"/>
            </a:lvl1pPr>
            <a:lvl2pPr marL="972457" indent="-464457">
              <a:buSzPts val="3200"/>
              <a:defRPr sz="3200"/>
            </a:lvl2pPr>
            <a:lvl3pPr marL="1498600" indent="-508000">
              <a:buSzPts val="3200"/>
              <a:defRPr sz="3200"/>
            </a:lvl3pPr>
            <a:lvl4pPr marL="2042160" indent="-568960">
              <a:buSzPts val="3200"/>
              <a:defRPr sz="3200"/>
            </a:lvl4pPr>
            <a:lvl5pPr marL="2499360" indent="-568960">
              <a:buSzPts val="3200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Google Shape;62;p22"/>
          <p:cNvSpPr txBox="1"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600"/>
            </a:pP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93" name="Google Shape;68;p23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600"/>
            </a:lvl1pPr>
            <a:lvl2pPr marL="228600" indent="457200">
              <a:buClrTx/>
              <a:buSzTx/>
              <a:buFontTx/>
              <a:buNone/>
              <a:defRPr sz="1600"/>
            </a:lvl2pPr>
            <a:lvl3pPr marL="228600" indent="914400">
              <a:buClrTx/>
              <a:buSzTx/>
              <a:buFontTx/>
              <a:buNone/>
              <a:defRPr sz="1600"/>
            </a:lvl3pPr>
            <a:lvl4pPr marL="228600" indent="1371600">
              <a:buClrTx/>
              <a:buSzTx/>
              <a:buFontTx/>
              <a:buNone/>
              <a:defRPr sz="1600"/>
            </a:lvl4pPr>
            <a:lvl5pPr marL="228600" indent="1828800">
              <a:buClrTx/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3" name="Body Level One…"/>
          <p:cNvSpPr txBox="1"/>
          <p:nvPr>
            <p:ph type="body" idx="1"/>
          </p:nvPr>
        </p:nvSpPr>
        <p:spPr>
          <a:xfrm rot="5400000">
            <a:off x="3920330" y="-1256506"/>
            <a:ext cx="4351339" cy="10515601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Text"/>
          <p:cNvSpPr txBox="1"/>
          <p:nvPr>
            <p:ph type="title"/>
          </p:nvPr>
        </p:nvSpPr>
        <p:spPr>
          <a:xfrm rot="5400000">
            <a:off x="7133431" y="1956593"/>
            <a:ext cx="5811839" cy="26289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12" name="Body Level One…"/>
          <p:cNvSpPr txBox="1"/>
          <p:nvPr>
            <p:ph type="body" idx="1"/>
          </p:nvPr>
        </p:nvSpPr>
        <p:spPr>
          <a:xfrm rot="5400000">
            <a:off x="1799431" y="-596107"/>
            <a:ext cx="5811838" cy="7734301"/>
          </a:xfrm>
          <a:prstGeom prst="rect">
            <a:avLst/>
          </a:prstGeom>
        </p:spPr>
        <p:txBody>
          <a:bodyPr/>
          <a:lstStyle>
            <a:lvl1pPr indent="-342900"/>
            <a:lvl2pPr marL="971550" indent="-400050"/>
            <a:lvl3pPr marL="1508760" indent="-480060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xfrm>
            <a:off x="11095216" y="6414780"/>
            <a:ext cx="258585" cy="24826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406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77900" marR="0" indent="-4445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513839" marR="0" indent="-4978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19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765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337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3909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481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05300" marR="0" indent="-5334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>
          <a:srgbClr val="000000"/>
        </a:buClr>
        <a:buSzPts val="28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uditi.2024@vitstudent.ac.in" TargetMode="Externa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90;p1"/>
          <p:cNvSpPr/>
          <p:nvPr/>
        </p:nvSpPr>
        <p:spPr>
          <a:xfrm>
            <a:off x="777240" y="676655"/>
            <a:ext cx="2423161" cy="34747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123" name="Google Shape;91;p1"/>
          <p:cNvSpPr txBox="1"/>
          <p:nvPr/>
        </p:nvSpPr>
        <p:spPr>
          <a:xfrm>
            <a:off x="777239" y="776477"/>
            <a:ext cx="242316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6D28D9"/>
                </a:solidFill>
              </a:defRPr>
            </a:lvl1pPr>
          </a:lstStyle>
          <a:p>
            <a:pPr/>
            <a:r>
              <a:t>SAMSUNG PRISM</a:t>
            </a:r>
          </a:p>
        </p:txBody>
      </p:sp>
      <p:sp>
        <p:nvSpPr>
          <p:cNvPr id="124" name="Google Shape;92;p1"/>
          <p:cNvSpPr txBox="1"/>
          <p:nvPr/>
        </p:nvSpPr>
        <p:spPr>
          <a:xfrm>
            <a:off x="777240" y="1223998"/>
            <a:ext cx="6126480" cy="715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0">
                <a:solidFill>
                  <a:srgbClr val="14142B"/>
                </a:solidFill>
              </a:defRPr>
            </a:lvl1pPr>
          </a:lstStyle>
          <a:p>
            <a:pPr/>
            <a:r>
              <a:t>Generative AI</a:t>
            </a:r>
          </a:p>
        </p:txBody>
      </p:sp>
      <p:sp>
        <p:nvSpPr>
          <p:cNvPr id="125" name="Google Shape;93;p1"/>
          <p:cNvSpPr txBox="1"/>
          <p:nvPr/>
        </p:nvSpPr>
        <p:spPr>
          <a:xfrm>
            <a:off x="777240" y="1918942"/>
            <a:ext cx="6126480" cy="715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000">
                <a:solidFill>
                  <a:srgbClr val="6D28D9"/>
                </a:solidFill>
              </a:defRPr>
            </a:lvl1pPr>
          </a:lstStyle>
          <a:p>
            <a:pPr/>
            <a:r>
              <a:t>Hackathon</a:t>
            </a:r>
          </a:p>
        </p:txBody>
      </p:sp>
      <p:sp>
        <p:nvSpPr>
          <p:cNvPr id="126" name="Google Shape;94;p1"/>
          <p:cNvSpPr txBox="1"/>
          <p:nvPr/>
        </p:nvSpPr>
        <p:spPr>
          <a:xfrm>
            <a:off x="777240" y="2774555"/>
            <a:ext cx="6126480" cy="357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500">
                <a:solidFill>
                  <a:srgbClr val="14142B"/>
                </a:solidFill>
              </a:defRPr>
            </a:pPr>
            <a:r>
              <a:t>3rd Edition</a:t>
            </a:r>
            <a:r>
              <a:rPr b="0" sz="2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</a:p>
        </p:txBody>
      </p:sp>
      <p:sp>
        <p:nvSpPr>
          <p:cNvPr id="127" name="Google Shape;95;p1"/>
          <p:cNvSpPr txBox="1"/>
          <p:nvPr/>
        </p:nvSpPr>
        <p:spPr>
          <a:xfrm>
            <a:off x="777239" y="3310128"/>
            <a:ext cx="5852162" cy="3181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77800" indent="-177800">
              <a:buClr>
                <a:srgbClr val="63637E"/>
              </a:buClr>
              <a:buSzPts val="1600"/>
              <a:buFont typeface="Calibri"/>
              <a:buChar char="•"/>
              <a:defRPr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Theme ID - Theme 4: Streaming Live Rag</a:t>
            </a:r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  <a:defRPr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Team Name -  Algovengers</a:t>
            </a:r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  <a:defRPr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College Name - Vellore Institute of Technology</a:t>
            </a:r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  <a:defRPr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Member Name &amp; Email 1-  Sneha Singh, sneha.singh2024a@vitstudent.ac.in</a:t>
            </a:r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  <a:defRPr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Member Name &amp; Email 2-  Devina Sharma, devină.shadma2024@vitstudent.ac.in</a:t>
            </a:r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  <a:defRPr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Member Name &amp; Email 3- Ishita Singhal, ishita.singhal2024@vitstudent.ac.in</a:t>
            </a:r>
          </a:p>
          <a:p>
            <a:pPr marL="17780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  <a:defRPr sz="16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Member Name &amp; Email 4- Uditi Goyal,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2" invalidUrl="" action="" tgtFrame="" tooltip="" history="1" highlightClick="0" endSnd="0"/>
              </a:rPr>
              <a:t>uditi.2024@vitstudent.ac.in</a:t>
            </a:r>
          </a:p>
        </p:txBody>
      </p:sp>
      <p:pic>
        <p:nvPicPr>
          <p:cNvPr id="128" name="Google Shape;96;p1" descr="Google Shape;96;p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59168" y="1051560"/>
            <a:ext cx="4572001" cy="4572001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extBox 96"/>
          <p:cNvSpPr txBox="1"/>
          <p:nvPr/>
        </p:nvSpPr>
        <p:spPr>
          <a:xfrm>
            <a:off x="7077456" y="5669279"/>
            <a:ext cx="4535425" cy="303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defRPr sz="20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Project: </a:t>
            </a:r>
            <a:r>
              <a:rPr b="1">
                <a:solidFill>
                  <a:srgbClr val="704EA6"/>
                </a:solidFill>
              </a:rPr>
              <a:t>ClauseStream</a:t>
            </a:r>
          </a:p>
        </p:txBody>
      </p:sp>
      <p:sp>
        <p:nvSpPr>
          <p:cNvPr id="130" name="TextBox 97"/>
          <p:cNvSpPr txBox="1"/>
          <p:nvPr/>
        </p:nvSpPr>
        <p:spPr>
          <a:xfrm>
            <a:off x="7077456" y="6035040"/>
            <a:ext cx="4535425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i="1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“Relevant is not enough. ClauseStream tells AI assistants what actually applies.”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01;p2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Theme: Applicability-Aware AI Assistance</a:t>
            </a:r>
          </a:p>
        </p:txBody>
      </p:sp>
      <p:sp>
        <p:nvSpPr>
          <p:cNvPr id="133" name="Rounded Rectangle 101"/>
          <p:cNvSpPr/>
          <p:nvPr/>
        </p:nvSpPr>
        <p:spPr>
          <a:xfrm>
            <a:off x="548640" y="1097280"/>
            <a:ext cx="11064241" cy="822961"/>
          </a:xfrm>
          <a:prstGeom prst="roundRect">
            <a:avLst>
              <a:gd name="adj" fmla="val 6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TextBox 102"/>
          <p:cNvSpPr txBox="1"/>
          <p:nvPr/>
        </p:nvSpPr>
        <p:spPr>
          <a:xfrm>
            <a:off x="704088" y="1330813"/>
            <a:ext cx="10753343" cy="355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 assistants can find the right rule. ClauseStream checks whether it applies to YOU.</a:t>
            </a:r>
          </a:p>
        </p:txBody>
      </p:sp>
      <p:sp>
        <p:nvSpPr>
          <p:cNvPr id="135" name="Rounded Rectangle 103"/>
          <p:cNvSpPr/>
          <p:nvPr/>
        </p:nvSpPr>
        <p:spPr>
          <a:xfrm>
            <a:off x="548640" y="2103120"/>
            <a:ext cx="11064241" cy="105156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104"/>
          <p:cNvSpPr txBox="1"/>
          <p:nvPr/>
        </p:nvSpPr>
        <p:spPr>
          <a:xfrm>
            <a:off x="795527" y="2363164"/>
            <a:ext cx="10570466" cy="540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defRPr b="1" sz="17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What is ClauseStream?  </a:t>
            </a:r>
            <a:r>
              <a:rPr b="0">
                <a:solidFill>
                  <a:srgbClr val="2B2B3A"/>
                </a:solidFill>
              </a:rPr>
              <a:t>A plug-in layer for existing AI assistants. It remembers the user’s situation during a chat, checks every retrieved rule or exception against it, and asks for a missing fact instead of guessing.</a:t>
            </a:r>
          </a:p>
        </p:txBody>
      </p:sp>
      <p:sp>
        <p:nvSpPr>
          <p:cNvPr id="137" name="Rounded Rectangle 105"/>
          <p:cNvSpPr/>
          <p:nvPr/>
        </p:nvSpPr>
        <p:spPr>
          <a:xfrm>
            <a:off x="548640" y="3337559"/>
            <a:ext cx="3566160" cy="20116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106"/>
          <p:cNvSpPr txBox="1"/>
          <p:nvPr/>
        </p:nvSpPr>
        <p:spPr>
          <a:xfrm>
            <a:off x="749807" y="3428999"/>
            <a:ext cx="1060705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39" name="TextBox 107"/>
          <p:cNvSpPr txBox="1"/>
          <p:nvPr/>
        </p:nvSpPr>
        <p:spPr>
          <a:xfrm>
            <a:off x="1664206" y="3574640"/>
            <a:ext cx="2340865" cy="34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22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Understand</a:t>
            </a:r>
          </a:p>
        </p:txBody>
      </p:sp>
      <p:sp>
        <p:nvSpPr>
          <p:cNvPr id="140" name="TextBox 108"/>
          <p:cNvSpPr txBox="1"/>
          <p:nvPr/>
        </p:nvSpPr>
        <p:spPr>
          <a:xfrm>
            <a:off x="749807" y="4114800"/>
            <a:ext cx="3163825" cy="698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Pull the user’s current situation out of the conversation (what happened, device age, plan, amounts…).</a:t>
            </a:r>
          </a:p>
        </p:txBody>
      </p:sp>
      <p:sp>
        <p:nvSpPr>
          <p:cNvPr id="141" name="Rounded Rectangle 109"/>
          <p:cNvSpPr/>
          <p:nvPr/>
        </p:nvSpPr>
        <p:spPr>
          <a:xfrm>
            <a:off x="4297679" y="3337559"/>
            <a:ext cx="3566160" cy="20116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110"/>
          <p:cNvSpPr txBox="1"/>
          <p:nvPr/>
        </p:nvSpPr>
        <p:spPr>
          <a:xfrm>
            <a:off x="4498847" y="3428999"/>
            <a:ext cx="1060705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3" name="TextBox 111"/>
          <p:cNvSpPr txBox="1"/>
          <p:nvPr/>
        </p:nvSpPr>
        <p:spPr>
          <a:xfrm>
            <a:off x="5413247" y="3574640"/>
            <a:ext cx="2340865" cy="34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22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Evaluate</a:t>
            </a:r>
          </a:p>
        </p:txBody>
      </p:sp>
      <p:sp>
        <p:nvSpPr>
          <p:cNvPr id="144" name="TextBox 112"/>
          <p:cNvSpPr txBox="1"/>
          <p:nvPr/>
        </p:nvSpPr>
        <p:spPr>
          <a:xfrm>
            <a:off x="4498847" y="4114800"/>
            <a:ext cx="3163825" cy="698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Match each retrieved rule against that situation: applies, doesn’t apply, or unknown.</a:t>
            </a:r>
          </a:p>
        </p:txBody>
      </p:sp>
      <p:sp>
        <p:nvSpPr>
          <p:cNvPr id="145" name="Rounded Rectangle 113"/>
          <p:cNvSpPr/>
          <p:nvPr/>
        </p:nvSpPr>
        <p:spPr>
          <a:xfrm>
            <a:off x="8046718" y="3337559"/>
            <a:ext cx="3566161" cy="20116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114"/>
          <p:cNvSpPr txBox="1"/>
          <p:nvPr/>
        </p:nvSpPr>
        <p:spPr>
          <a:xfrm>
            <a:off x="8247887" y="3428999"/>
            <a:ext cx="1060705" cy="460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3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47" name="TextBox 115"/>
          <p:cNvSpPr txBox="1"/>
          <p:nvPr/>
        </p:nvSpPr>
        <p:spPr>
          <a:xfrm>
            <a:off x="9162287" y="3574640"/>
            <a:ext cx="2340865" cy="34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22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Adapt</a:t>
            </a:r>
          </a:p>
        </p:txBody>
      </p:sp>
      <p:sp>
        <p:nvSpPr>
          <p:cNvPr id="148" name="TextBox 116"/>
          <p:cNvSpPr txBox="1"/>
          <p:nvPr/>
        </p:nvSpPr>
        <p:spPr>
          <a:xfrm>
            <a:off x="8247887" y="4114800"/>
            <a:ext cx="3163825" cy="698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Ask only for the missing fact that matters, and update only what changed.</a:t>
            </a:r>
          </a:p>
        </p:txBody>
      </p:sp>
      <p:sp>
        <p:nvSpPr>
          <p:cNvPr id="149" name="Rounded Rectangle 117"/>
          <p:cNvSpPr/>
          <p:nvPr/>
        </p:nvSpPr>
        <p:spPr>
          <a:xfrm>
            <a:off x="548640" y="5577840"/>
            <a:ext cx="11064241" cy="73152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118"/>
          <p:cNvSpPr txBox="1"/>
          <p:nvPr/>
        </p:nvSpPr>
        <p:spPr>
          <a:xfrm>
            <a:off x="704088" y="5791797"/>
            <a:ext cx="10753343" cy="30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 algn="ctr">
              <a:def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From  “What information is relevant?”</a:t>
            </a:r>
            <a:r>
              <a:rPr>
                <a:solidFill>
                  <a:srgbClr val="D9C7F7"/>
                </a:solidFill>
              </a:rPr>
              <a:t>   →   </a:t>
            </a:r>
            <a:r>
              <a:t>“What information actually applies?”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07;p3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Existing Solutions &amp; Gaps</a:t>
            </a:r>
          </a:p>
        </p:txBody>
      </p:sp>
      <p:sp>
        <p:nvSpPr>
          <p:cNvPr id="155" name="TextBox 107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Today’s AI assistants are good at retrieving information, but not always at deciding when it applies.</a:t>
            </a:r>
          </a:p>
        </p:txBody>
      </p:sp>
      <p:graphicFrame>
        <p:nvGraphicFramePr>
          <p:cNvPr id="156" name="Table 108"/>
          <p:cNvGraphicFramePr/>
          <p:nvPr/>
        </p:nvGraphicFramePr>
        <p:xfrm>
          <a:off x="548640" y="1463039"/>
          <a:ext cx="6949441" cy="304495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28800"/>
                <a:gridCol w="210312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Existing approach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 well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Gap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704EA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Standard RAG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Finds relevant chunks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Can’t tell if a rule applies to this user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LLM reasoning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Understands language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May guess missing facts or miss exceptions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Conversation memory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Remembers earlier turns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Doesn’t link rules to the facts they need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Rule engines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Check conditions reliably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Cut off from chat and retrieval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</a:tr>
            </a:tbl>
          </a:graphicData>
        </a:graphic>
      </p:graphicFrame>
      <p:sp>
        <p:nvSpPr>
          <p:cNvPr id="157" name="Rounded Rectangle 109"/>
          <p:cNvSpPr/>
          <p:nvPr/>
        </p:nvSpPr>
        <p:spPr>
          <a:xfrm>
            <a:off x="7772400" y="1463039"/>
            <a:ext cx="3840480" cy="3044953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110"/>
          <p:cNvSpPr txBox="1"/>
          <p:nvPr/>
        </p:nvSpPr>
        <p:spPr>
          <a:xfrm>
            <a:off x="7973566" y="1536191"/>
            <a:ext cx="3438145" cy="24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5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Example: Samsung Care warranty</a:t>
            </a:r>
          </a:p>
        </p:txBody>
      </p:sp>
      <p:sp>
        <p:nvSpPr>
          <p:cNvPr id="159" name="TextBox 111"/>
          <p:cNvSpPr txBox="1"/>
          <p:nvPr/>
        </p:nvSpPr>
        <p:spPr>
          <a:xfrm>
            <a:off x="7973566" y="1965959"/>
            <a:ext cx="3438145" cy="1879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spcBef>
                <a:spcPts val="700"/>
              </a:spcBef>
              <a:defRPr b="1"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Defect, first 12 months: </a:t>
            </a:r>
            <a:r>
              <a:rPr b="0"/>
              <a:t>free repair</a:t>
            </a:r>
            <a:endParaRPr b="0"/>
          </a:p>
          <a:p>
            <a:pPr>
              <a:spcBef>
                <a:spcPts val="700"/>
              </a:spcBef>
              <a:defRPr b="1"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Accidental damage: </a:t>
            </a:r>
            <a:r>
              <a:rPr b="0"/>
              <a:t>covered only with Care+</a:t>
            </a:r>
            <a:endParaRPr b="0"/>
          </a:p>
          <a:p>
            <a:pPr>
              <a:spcBef>
                <a:spcPts val="700"/>
              </a:spcBef>
              <a:defRPr b="1" sz="15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User says: </a:t>
            </a:r>
            <a:r>
              <a:rPr b="0" i="1">
                <a:solidFill>
                  <a:srgbClr val="2B2B3A"/>
                </a:solidFill>
              </a:rPr>
              <a:t>“My screen cracked. Is it covered?”</a:t>
            </a:r>
            <a:endParaRPr b="0" i="1">
              <a:solidFill>
                <a:srgbClr val="2B2B3A"/>
              </a:solidFill>
            </a:endParaRPr>
          </a:p>
          <a:p>
            <a:pPr>
              <a:spcBef>
                <a:spcPts val="700"/>
              </a:spcBef>
              <a:defRPr b="1" sz="15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RAG retrieves both rules. Which one applies? It can’t tell.</a:t>
            </a:r>
          </a:p>
        </p:txBody>
      </p:sp>
      <p:sp>
        <p:nvSpPr>
          <p:cNvPr id="160" name="Rounded Rectangle 112"/>
          <p:cNvSpPr/>
          <p:nvPr/>
        </p:nvSpPr>
        <p:spPr>
          <a:xfrm>
            <a:off x="548640" y="4709159"/>
            <a:ext cx="1554481" cy="82296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113"/>
          <p:cNvSpPr txBox="1"/>
          <p:nvPr/>
        </p:nvSpPr>
        <p:spPr>
          <a:xfrm>
            <a:off x="612647" y="4999929"/>
            <a:ext cx="1426464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User query</a:t>
            </a:r>
          </a:p>
        </p:txBody>
      </p:sp>
      <p:sp>
        <p:nvSpPr>
          <p:cNvPr id="162" name="Right Arrow 114"/>
          <p:cNvSpPr/>
          <p:nvPr/>
        </p:nvSpPr>
        <p:spPr>
          <a:xfrm>
            <a:off x="2130550" y="4937759"/>
            <a:ext cx="310897" cy="36576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Rounded Rectangle 115"/>
          <p:cNvSpPr/>
          <p:nvPr/>
        </p:nvSpPr>
        <p:spPr>
          <a:xfrm>
            <a:off x="2468878" y="4709159"/>
            <a:ext cx="2103122" cy="82296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TextBox 116"/>
          <p:cNvSpPr txBox="1"/>
          <p:nvPr/>
        </p:nvSpPr>
        <p:spPr>
          <a:xfrm>
            <a:off x="2532887" y="4999929"/>
            <a:ext cx="1975104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Retrieve relevant info</a:t>
            </a:r>
          </a:p>
        </p:txBody>
      </p:sp>
      <p:sp>
        <p:nvSpPr>
          <p:cNvPr id="165" name="Right Arrow 117"/>
          <p:cNvSpPr/>
          <p:nvPr/>
        </p:nvSpPr>
        <p:spPr>
          <a:xfrm>
            <a:off x="4599432" y="4937759"/>
            <a:ext cx="310897" cy="36576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392B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Rounded Rectangle 118"/>
          <p:cNvSpPr/>
          <p:nvPr/>
        </p:nvSpPr>
        <p:spPr>
          <a:xfrm>
            <a:off x="4937759" y="4709159"/>
            <a:ext cx="2468881" cy="822961"/>
          </a:xfrm>
          <a:prstGeom prst="roundRect">
            <a:avLst>
              <a:gd name="adj" fmla="val 6000"/>
            </a:avLst>
          </a:prstGeom>
          <a:solidFill>
            <a:srgbClr val="FBE7E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119"/>
          <p:cNvSpPr txBox="1"/>
          <p:nvPr/>
        </p:nvSpPr>
        <p:spPr>
          <a:xfrm>
            <a:off x="5001767" y="4999929"/>
            <a:ext cx="234086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5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“Relevant” ≠ “Applicable”</a:t>
            </a:r>
          </a:p>
        </p:txBody>
      </p:sp>
      <p:sp>
        <p:nvSpPr>
          <p:cNvPr id="168" name="Right Arrow 120"/>
          <p:cNvSpPr/>
          <p:nvPr/>
        </p:nvSpPr>
        <p:spPr>
          <a:xfrm>
            <a:off x="7434071" y="4937759"/>
            <a:ext cx="310897" cy="36576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Rounded Rectangle 121"/>
          <p:cNvSpPr/>
          <p:nvPr/>
        </p:nvSpPr>
        <p:spPr>
          <a:xfrm>
            <a:off x="7772400" y="4709159"/>
            <a:ext cx="3931921" cy="822961"/>
          </a:xfrm>
          <a:prstGeom prst="roundRect">
            <a:avLst>
              <a:gd name="adj" fmla="val 6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TextBox 122"/>
          <p:cNvSpPr txBox="1"/>
          <p:nvPr/>
        </p:nvSpPr>
        <p:spPr>
          <a:xfrm>
            <a:off x="7836407" y="4999929"/>
            <a:ext cx="380390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ClauseStream: check conditions + context</a:t>
            </a:r>
          </a:p>
        </p:txBody>
      </p:sp>
      <p:sp>
        <p:nvSpPr>
          <p:cNvPr id="171" name="Rounded Rectangle 123"/>
          <p:cNvSpPr/>
          <p:nvPr/>
        </p:nvSpPr>
        <p:spPr>
          <a:xfrm>
            <a:off x="548640" y="5760720"/>
            <a:ext cx="11064241" cy="64008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124"/>
          <p:cNvSpPr txBox="1"/>
          <p:nvPr/>
        </p:nvSpPr>
        <p:spPr>
          <a:xfrm>
            <a:off x="704088" y="5906360"/>
            <a:ext cx="10753343" cy="34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 algn="ctr">
              <a:def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 missing layer: </a:t>
            </a:r>
            <a:r>
              <a:rPr>
                <a:solidFill>
                  <a:srgbClr val="E8DAFF"/>
                </a:solidFill>
              </a:rPr>
              <a:t>Applicability reasoning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13;p4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Our Solutions &amp; Architecture Diagram</a:t>
            </a:r>
          </a:p>
        </p:txBody>
      </p:sp>
      <p:sp>
        <p:nvSpPr>
          <p:cNvPr id="177" name="TextBox 113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Part 1: a plug-in for existing AI assistants, not a new assistant</a:t>
            </a:r>
          </a:p>
        </p:txBody>
      </p:sp>
      <p:sp>
        <p:nvSpPr>
          <p:cNvPr id="178" name="Rounded Rectangle 114"/>
          <p:cNvSpPr/>
          <p:nvPr/>
        </p:nvSpPr>
        <p:spPr>
          <a:xfrm>
            <a:off x="548640" y="1600200"/>
            <a:ext cx="2377440" cy="2514600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TextBox 115"/>
          <p:cNvSpPr txBox="1"/>
          <p:nvPr/>
        </p:nvSpPr>
        <p:spPr>
          <a:xfrm>
            <a:off x="658367" y="2438339"/>
            <a:ext cx="2157986" cy="838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 algn="ctr">
              <a:spcBef>
                <a:spcPts val="600"/>
              </a:spcBef>
              <a:defRPr b="1" sz="18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Existing AI Assistant</a:t>
            </a:r>
          </a:p>
          <a:p>
            <a:pPr algn="ctr">
              <a:spcBef>
                <a:spcPts val="6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User chats with the assistant</a:t>
            </a:r>
          </a:p>
        </p:txBody>
      </p:sp>
      <p:sp>
        <p:nvSpPr>
          <p:cNvPr id="180" name="Right Arrow 116"/>
          <p:cNvSpPr/>
          <p:nvPr/>
        </p:nvSpPr>
        <p:spPr>
          <a:xfrm>
            <a:off x="3017520" y="2651760"/>
            <a:ext cx="502921" cy="41148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Rounded Rectangle 117"/>
          <p:cNvSpPr/>
          <p:nvPr/>
        </p:nvSpPr>
        <p:spPr>
          <a:xfrm>
            <a:off x="3611879" y="1600200"/>
            <a:ext cx="4572001" cy="2514600"/>
          </a:xfrm>
          <a:prstGeom prst="roundRect">
            <a:avLst>
              <a:gd name="adj" fmla="val 6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118"/>
          <p:cNvSpPr txBox="1"/>
          <p:nvPr/>
        </p:nvSpPr>
        <p:spPr>
          <a:xfrm>
            <a:off x="3721608" y="1691639"/>
            <a:ext cx="4352545" cy="326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b="1" sz="2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ClauseStream Layer</a:t>
            </a:r>
          </a:p>
        </p:txBody>
      </p:sp>
      <p:sp>
        <p:nvSpPr>
          <p:cNvPr id="183" name="TextBox 119"/>
          <p:cNvSpPr txBox="1"/>
          <p:nvPr/>
        </p:nvSpPr>
        <p:spPr>
          <a:xfrm>
            <a:off x="3904487" y="2194560"/>
            <a:ext cx="3986785" cy="143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spcBef>
                <a:spcPts val="300"/>
              </a:spcBef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Situation tracking</a:t>
            </a:r>
          </a:p>
          <a:p>
            <a:pPr>
              <a:spcBef>
                <a:spcPts val="300"/>
              </a:spcBef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Clause retrieval</a:t>
            </a:r>
          </a:p>
          <a:p>
            <a:pPr>
              <a:spcBef>
                <a:spcPts val="300"/>
              </a:spcBef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Applicability check</a:t>
            </a:r>
          </a:p>
          <a:p>
            <a:pPr>
              <a:spcBef>
                <a:spcPts val="300"/>
              </a:spcBef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Conflict detection</a:t>
            </a:r>
          </a:p>
          <a:p>
            <a:pPr>
              <a:spcBef>
                <a:spcPts val="300"/>
              </a:spcBef>
              <a:defRPr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Incremental update</a:t>
            </a:r>
          </a:p>
        </p:txBody>
      </p:sp>
      <p:sp>
        <p:nvSpPr>
          <p:cNvPr id="184" name="Right Arrow 120"/>
          <p:cNvSpPr/>
          <p:nvPr/>
        </p:nvSpPr>
        <p:spPr>
          <a:xfrm>
            <a:off x="8275319" y="2651760"/>
            <a:ext cx="502921" cy="41148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Rounded Rectangle 121"/>
          <p:cNvSpPr/>
          <p:nvPr/>
        </p:nvSpPr>
        <p:spPr>
          <a:xfrm>
            <a:off x="8869680" y="1600200"/>
            <a:ext cx="2743201" cy="2514600"/>
          </a:xfrm>
          <a:prstGeom prst="roundRect">
            <a:avLst>
              <a:gd name="adj" fmla="val 6000"/>
            </a:avLst>
          </a:prstGeom>
          <a:solidFill>
            <a:srgbClr val="E3F4F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" name="TextBox 122"/>
          <p:cNvSpPr txBox="1"/>
          <p:nvPr/>
        </p:nvSpPr>
        <p:spPr>
          <a:xfrm>
            <a:off x="8979407" y="2133539"/>
            <a:ext cx="2523745" cy="1447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 algn="ctr">
              <a:spcBef>
                <a:spcPts val="400"/>
              </a:spcBef>
              <a:defRPr b="1" sz="18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Verified Context</a:t>
            </a:r>
          </a:p>
          <a:p>
            <a:pPr algn="ctr">
              <a:spcBef>
                <a:spcPts val="4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Only the rules that really apply</a:t>
            </a:r>
          </a:p>
          <a:p>
            <a:pPr algn="ctr">
              <a:spcBef>
                <a:spcPts val="400"/>
              </a:spcBef>
              <a:defRPr b="1" sz="20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↓</a:t>
            </a:r>
          </a:p>
          <a:p>
            <a:pPr algn="ctr">
              <a:spcBef>
                <a:spcPts val="400"/>
              </a:spcBef>
              <a:defRPr b="1" sz="15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Existing assistant writes the final answer</a:t>
            </a:r>
          </a:p>
        </p:txBody>
      </p:sp>
      <p:sp>
        <p:nvSpPr>
          <p:cNvPr id="187" name="Rounded Rectangle 123"/>
          <p:cNvSpPr/>
          <p:nvPr/>
        </p:nvSpPr>
        <p:spPr>
          <a:xfrm>
            <a:off x="548640" y="434340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124"/>
          <p:cNvSpPr txBox="1"/>
          <p:nvPr/>
        </p:nvSpPr>
        <p:spPr>
          <a:xfrm>
            <a:off x="749807" y="4589720"/>
            <a:ext cx="5084066" cy="78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spcBef>
                <a:spcPts val="400"/>
              </a:spcBef>
              <a:defRPr b="1" sz="17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What does NOT change</a:t>
            </a:r>
          </a:p>
          <a:p>
            <a:pPr>
              <a:spcBef>
                <a:spcPts val="4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Not the assistant. Not the underlying LLM. Not the user experience.</a:t>
            </a:r>
          </a:p>
        </p:txBody>
      </p:sp>
      <p:sp>
        <p:nvSpPr>
          <p:cNvPr id="189" name="Rounded Rectangle 125"/>
          <p:cNvSpPr/>
          <p:nvPr/>
        </p:nvSpPr>
        <p:spPr>
          <a:xfrm>
            <a:off x="6172200" y="4343400"/>
            <a:ext cx="54406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126"/>
          <p:cNvSpPr txBox="1"/>
          <p:nvPr/>
        </p:nvSpPr>
        <p:spPr>
          <a:xfrm>
            <a:off x="6373367" y="4589720"/>
            <a:ext cx="5084066" cy="787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spcBef>
                <a:spcPts val="400"/>
              </a:spcBef>
              <a:defRPr b="1" sz="17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What we ADD</a:t>
            </a:r>
          </a:p>
          <a:p>
            <a:pPr>
              <a:spcBef>
                <a:spcPts val="4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An applicability-aware reasoning layer between retrieved knowledge and response generation.</a:t>
            </a:r>
          </a:p>
        </p:txBody>
      </p:sp>
      <p:sp>
        <p:nvSpPr>
          <p:cNvPr id="191" name="Rounded Rectangle 127"/>
          <p:cNvSpPr/>
          <p:nvPr/>
        </p:nvSpPr>
        <p:spPr>
          <a:xfrm>
            <a:off x="548640" y="5760720"/>
            <a:ext cx="11064241" cy="64008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128"/>
          <p:cNvSpPr txBox="1"/>
          <p:nvPr/>
        </p:nvSpPr>
        <p:spPr>
          <a:xfrm>
            <a:off x="704088" y="5928957"/>
            <a:ext cx="10753343" cy="30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Think of it as a fact-checker between your assistant’s search and its answer.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13;p4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Our Solutions &amp; Architecture Diagram</a:t>
            </a:r>
          </a:p>
        </p:txBody>
      </p:sp>
      <p:sp>
        <p:nvSpPr>
          <p:cNvPr id="197" name="TextBox 113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Part 2: how ClauseStream works inside, in 6 steps (the same strip shown in the live demo)</a:t>
            </a:r>
          </a:p>
        </p:txBody>
      </p:sp>
      <p:sp>
        <p:nvSpPr>
          <p:cNvPr id="198" name="Rounded Rectangle 114"/>
          <p:cNvSpPr/>
          <p:nvPr/>
        </p:nvSpPr>
        <p:spPr>
          <a:xfrm>
            <a:off x="548640" y="1554480"/>
            <a:ext cx="3474721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01" name="Oval 115"/>
          <p:cNvGrpSpPr/>
          <p:nvPr/>
        </p:nvGrpSpPr>
        <p:grpSpPr>
          <a:xfrm>
            <a:off x="685800" y="1691638"/>
            <a:ext cx="384048" cy="384049"/>
            <a:chOff x="0" y="0"/>
            <a:chExt cx="384047" cy="384047"/>
          </a:xfrm>
        </p:grpSpPr>
        <p:sp>
          <p:nvSpPr>
            <p:cNvPr id="199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0" name="1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202" name="TextBox 116"/>
          <p:cNvSpPr txBox="1"/>
          <p:nvPr/>
        </p:nvSpPr>
        <p:spPr>
          <a:xfrm>
            <a:off x="1161287" y="1760422"/>
            <a:ext cx="2752346" cy="27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17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Track situation</a:t>
            </a:r>
          </a:p>
        </p:txBody>
      </p:sp>
      <p:sp>
        <p:nvSpPr>
          <p:cNvPr id="203" name="TextBox 117"/>
          <p:cNvSpPr txBox="1"/>
          <p:nvPr/>
        </p:nvSpPr>
        <p:spPr>
          <a:xfrm>
            <a:off x="704087" y="2240279"/>
            <a:ext cx="3163826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Pulls facts out of the chat (what happened, device age, plan) in English or Hinglish</a:t>
            </a:r>
          </a:p>
        </p:txBody>
      </p:sp>
      <p:sp>
        <p:nvSpPr>
          <p:cNvPr id="204" name="Right Arrow 118"/>
          <p:cNvSpPr/>
          <p:nvPr/>
        </p:nvSpPr>
        <p:spPr>
          <a:xfrm>
            <a:off x="4041647" y="2194560"/>
            <a:ext cx="283465" cy="3200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Rounded Rectangle 119"/>
          <p:cNvSpPr/>
          <p:nvPr/>
        </p:nvSpPr>
        <p:spPr>
          <a:xfrm>
            <a:off x="4343398" y="1554480"/>
            <a:ext cx="3474721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08" name="Oval 120"/>
          <p:cNvGrpSpPr/>
          <p:nvPr/>
        </p:nvGrpSpPr>
        <p:grpSpPr>
          <a:xfrm>
            <a:off x="4480559" y="1691638"/>
            <a:ext cx="384049" cy="384049"/>
            <a:chOff x="0" y="0"/>
            <a:chExt cx="384047" cy="384047"/>
          </a:xfrm>
        </p:grpSpPr>
        <p:sp>
          <p:nvSpPr>
            <p:cNvPr id="206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7" name="2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209" name="TextBox 121"/>
          <p:cNvSpPr txBox="1"/>
          <p:nvPr/>
        </p:nvSpPr>
        <p:spPr>
          <a:xfrm>
            <a:off x="4956047" y="1760422"/>
            <a:ext cx="2752345" cy="27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17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Retrieve clauses</a:t>
            </a:r>
          </a:p>
        </p:txBody>
      </p:sp>
      <p:sp>
        <p:nvSpPr>
          <p:cNvPr id="210" name="TextBox 122"/>
          <p:cNvSpPr txBox="1"/>
          <p:nvPr/>
        </p:nvSpPr>
        <p:spPr>
          <a:xfrm>
            <a:off x="4498847" y="2240279"/>
            <a:ext cx="3163825" cy="701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Scores clauses by keywords across the whole conversation, boosted by facts already known</a:t>
            </a:r>
          </a:p>
        </p:txBody>
      </p:sp>
      <p:sp>
        <p:nvSpPr>
          <p:cNvPr id="211" name="Right Arrow 123"/>
          <p:cNvSpPr/>
          <p:nvPr/>
        </p:nvSpPr>
        <p:spPr>
          <a:xfrm>
            <a:off x="7836406" y="2194560"/>
            <a:ext cx="283465" cy="3200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Rounded Rectangle 124"/>
          <p:cNvSpPr/>
          <p:nvPr/>
        </p:nvSpPr>
        <p:spPr>
          <a:xfrm>
            <a:off x="8138159" y="1554480"/>
            <a:ext cx="3474721" cy="1600201"/>
          </a:xfrm>
          <a:prstGeom prst="roundRect">
            <a:avLst>
              <a:gd name="adj" fmla="val 6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5" name="Oval 125"/>
          <p:cNvGrpSpPr/>
          <p:nvPr/>
        </p:nvGrpSpPr>
        <p:grpSpPr>
          <a:xfrm>
            <a:off x="8275318" y="1691638"/>
            <a:ext cx="384049" cy="384049"/>
            <a:chOff x="0" y="0"/>
            <a:chExt cx="384047" cy="384047"/>
          </a:xfrm>
        </p:grpSpPr>
        <p:sp>
          <p:nvSpPr>
            <p:cNvPr id="213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2E1A5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4" name="3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216" name="TextBox 126"/>
          <p:cNvSpPr txBox="1"/>
          <p:nvPr/>
        </p:nvSpPr>
        <p:spPr>
          <a:xfrm>
            <a:off x="8750806" y="1760422"/>
            <a:ext cx="2752345" cy="27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Resolve applicability</a:t>
            </a:r>
          </a:p>
        </p:txBody>
      </p:sp>
      <p:sp>
        <p:nvSpPr>
          <p:cNvPr id="217" name="TextBox 127"/>
          <p:cNvSpPr txBox="1"/>
          <p:nvPr/>
        </p:nvSpPr>
        <p:spPr>
          <a:xfrm>
            <a:off x="8293606" y="2240279"/>
            <a:ext cx="3163825" cy="701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Labels each clause APPLIES / NOT APPLICABLE / UNKNOWN; re-checks only clauses whose facts changed</a:t>
            </a:r>
          </a:p>
        </p:txBody>
      </p:sp>
      <p:sp>
        <p:nvSpPr>
          <p:cNvPr id="218" name="Rounded Rectangle 128"/>
          <p:cNvSpPr/>
          <p:nvPr/>
        </p:nvSpPr>
        <p:spPr>
          <a:xfrm>
            <a:off x="548640" y="3383279"/>
            <a:ext cx="3474721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21" name="Oval 129"/>
          <p:cNvGrpSpPr/>
          <p:nvPr/>
        </p:nvGrpSpPr>
        <p:grpSpPr>
          <a:xfrm>
            <a:off x="685800" y="3520440"/>
            <a:ext cx="384048" cy="384049"/>
            <a:chOff x="0" y="0"/>
            <a:chExt cx="384047" cy="384047"/>
          </a:xfrm>
        </p:grpSpPr>
        <p:sp>
          <p:nvSpPr>
            <p:cNvPr id="219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0" name="4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222" name="TextBox 130"/>
          <p:cNvSpPr txBox="1"/>
          <p:nvPr/>
        </p:nvSpPr>
        <p:spPr>
          <a:xfrm>
            <a:off x="1161287" y="3589222"/>
            <a:ext cx="2752346" cy="27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17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Conflict check</a:t>
            </a:r>
          </a:p>
        </p:txBody>
      </p:sp>
      <p:sp>
        <p:nvSpPr>
          <p:cNvPr id="223" name="TextBox 131"/>
          <p:cNvSpPr txBox="1"/>
          <p:nvPr/>
        </p:nvSpPr>
        <p:spPr>
          <a:xfrm>
            <a:off x="704087" y="4069079"/>
            <a:ext cx="3163826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Flags clashing rules (for example two limits at once) and applies precedence</a:t>
            </a:r>
          </a:p>
        </p:txBody>
      </p:sp>
      <p:sp>
        <p:nvSpPr>
          <p:cNvPr id="224" name="Right Arrow 132"/>
          <p:cNvSpPr/>
          <p:nvPr/>
        </p:nvSpPr>
        <p:spPr>
          <a:xfrm>
            <a:off x="4041647" y="4023359"/>
            <a:ext cx="283465" cy="3200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Rounded Rectangle 133"/>
          <p:cNvSpPr/>
          <p:nvPr/>
        </p:nvSpPr>
        <p:spPr>
          <a:xfrm>
            <a:off x="4343398" y="3383279"/>
            <a:ext cx="3474721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28" name="Oval 134"/>
          <p:cNvGrpSpPr/>
          <p:nvPr/>
        </p:nvGrpSpPr>
        <p:grpSpPr>
          <a:xfrm>
            <a:off x="4480559" y="3520440"/>
            <a:ext cx="384049" cy="384049"/>
            <a:chOff x="0" y="0"/>
            <a:chExt cx="384047" cy="384047"/>
          </a:xfrm>
        </p:grpSpPr>
        <p:sp>
          <p:nvSpPr>
            <p:cNvPr id="226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7" name="5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229" name="TextBox 135"/>
          <p:cNvSpPr txBox="1"/>
          <p:nvPr/>
        </p:nvSpPr>
        <p:spPr>
          <a:xfrm>
            <a:off x="4956047" y="3589222"/>
            <a:ext cx="2752345" cy="27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17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Clarify</a:t>
            </a:r>
          </a:p>
        </p:txBody>
      </p:sp>
      <p:sp>
        <p:nvSpPr>
          <p:cNvPr id="230" name="TextBox 136"/>
          <p:cNvSpPr txBox="1"/>
          <p:nvPr/>
        </p:nvSpPr>
        <p:spPr>
          <a:xfrm>
            <a:off x="4498847" y="4069079"/>
            <a:ext cx="3163825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Asks only for the missing fact that can change the answer</a:t>
            </a:r>
          </a:p>
        </p:txBody>
      </p:sp>
      <p:sp>
        <p:nvSpPr>
          <p:cNvPr id="231" name="Right Arrow 137"/>
          <p:cNvSpPr/>
          <p:nvPr/>
        </p:nvSpPr>
        <p:spPr>
          <a:xfrm>
            <a:off x="7836406" y="4023359"/>
            <a:ext cx="283465" cy="32004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Rounded Rectangle 138"/>
          <p:cNvSpPr/>
          <p:nvPr/>
        </p:nvSpPr>
        <p:spPr>
          <a:xfrm>
            <a:off x="8138159" y="3383279"/>
            <a:ext cx="3474721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35" name="Oval 139"/>
          <p:cNvGrpSpPr/>
          <p:nvPr/>
        </p:nvGrpSpPr>
        <p:grpSpPr>
          <a:xfrm>
            <a:off x="8275318" y="3520440"/>
            <a:ext cx="384049" cy="384049"/>
            <a:chOff x="0" y="0"/>
            <a:chExt cx="384047" cy="384047"/>
          </a:xfrm>
        </p:grpSpPr>
        <p:sp>
          <p:nvSpPr>
            <p:cNvPr id="233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4" name="6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236" name="TextBox 140"/>
          <p:cNvSpPr txBox="1"/>
          <p:nvPr/>
        </p:nvSpPr>
        <p:spPr>
          <a:xfrm>
            <a:off x="8750806" y="3589222"/>
            <a:ext cx="2752345" cy="27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17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Verify</a:t>
            </a:r>
          </a:p>
        </p:txBody>
      </p:sp>
      <p:sp>
        <p:nvSpPr>
          <p:cNvPr id="237" name="TextBox 141"/>
          <p:cNvSpPr txBox="1"/>
          <p:nvPr/>
        </p:nvSpPr>
        <p:spPr>
          <a:xfrm>
            <a:off x="8293606" y="4069079"/>
            <a:ext cx="3163825" cy="701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Every claim cites clause IDs; a clause-ID + entailment check blocks unsupported claims</a:t>
            </a:r>
          </a:p>
        </p:txBody>
      </p:sp>
      <p:sp>
        <p:nvSpPr>
          <p:cNvPr id="238" name="Rounded Rectangle 142"/>
          <p:cNvSpPr/>
          <p:nvPr/>
        </p:nvSpPr>
        <p:spPr>
          <a:xfrm>
            <a:off x="548640" y="5257800"/>
            <a:ext cx="11064241" cy="457200"/>
          </a:xfrm>
          <a:prstGeom prst="roundRect">
            <a:avLst>
              <a:gd name="adj" fmla="val 6000"/>
            </a:avLst>
          </a:prstGeom>
          <a:solidFill>
            <a:srgbClr val="0E8F7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TextBox 143"/>
          <p:cNvSpPr txBox="1"/>
          <p:nvPr/>
        </p:nvSpPr>
        <p:spPr>
          <a:xfrm>
            <a:off x="704088" y="5338144"/>
            <a:ext cx="10753343" cy="2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Result: verified context, then the host assistant writes the answer</a:t>
            </a:r>
          </a:p>
        </p:txBody>
      </p:sp>
      <p:sp>
        <p:nvSpPr>
          <p:cNvPr id="240" name="Rounded Rectangle 144"/>
          <p:cNvSpPr/>
          <p:nvPr/>
        </p:nvSpPr>
        <p:spPr>
          <a:xfrm>
            <a:off x="548640" y="5852159"/>
            <a:ext cx="11064241" cy="54864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TextBox 145"/>
          <p:cNvSpPr txBox="1"/>
          <p:nvPr/>
        </p:nvSpPr>
        <p:spPr>
          <a:xfrm>
            <a:off x="704088" y="5978224"/>
            <a:ext cx="10753343" cy="2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New information triggers delta re-evaluation of only the affected clauses.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119;p5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Demo &amp; Product Walkthrough</a:t>
            </a:r>
          </a:p>
        </p:txBody>
      </p:sp>
      <p:sp>
        <p:nvSpPr>
          <p:cNvPr id="246" name="TextBox 119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From an incomplete question to a verified answer (Samsung Care use case)</a:t>
            </a:r>
          </a:p>
        </p:txBody>
      </p:sp>
      <p:sp>
        <p:nvSpPr>
          <p:cNvPr id="247" name="Rounded Rectangle 120"/>
          <p:cNvSpPr/>
          <p:nvPr/>
        </p:nvSpPr>
        <p:spPr>
          <a:xfrm>
            <a:off x="548640" y="1554480"/>
            <a:ext cx="2560321" cy="29718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Rounded Rectangle 121"/>
          <p:cNvSpPr/>
          <p:nvPr/>
        </p:nvSpPr>
        <p:spPr>
          <a:xfrm>
            <a:off x="548640" y="1554480"/>
            <a:ext cx="2560321" cy="502920"/>
          </a:xfrm>
          <a:prstGeom prst="roundRect">
            <a:avLst>
              <a:gd name="adj" fmla="val 6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122"/>
          <p:cNvSpPr txBox="1"/>
          <p:nvPr/>
        </p:nvSpPr>
        <p:spPr>
          <a:xfrm>
            <a:off x="658368" y="1685229"/>
            <a:ext cx="234086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defRPr sz="1200">
                <a:solidFill>
                  <a:srgbClr val="D9C7F7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STEP 1  </a:t>
            </a:r>
            <a:r>
              <a:rPr b="1" sz="1500">
                <a:solidFill>
                  <a:srgbClr val="FFFFFF"/>
                </a:solidFill>
              </a:rPr>
              <a:t>User starts</a:t>
            </a:r>
          </a:p>
        </p:txBody>
      </p:sp>
      <p:sp>
        <p:nvSpPr>
          <p:cNvPr id="250" name="TextBox 123"/>
          <p:cNvSpPr txBox="1"/>
          <p:nvPr/>
        </p:nvSpPr>
        <p:spPr>
          <a:xfrm>
            <a:off x="658368" y="2121407"/>
            <a:ext cx="2340865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ts val="200"/>
              </a:spcBef>
              <a:defRPr i="1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“My phone screen cracked, is it covered?”</a:t>
            </a:r>
          </a:p>
        </p:txBody>
      </p:sp>
      <p:sp>
        <p:nvSpPr>
          <p:cNvPr id="251" name="Rounded Rectangle 124"/>
          <p:cNvSpPr/>
          <p:nvPr/>
        </p:nvSpPr>
        <p:spPr>
          <a:xfrm>
            <a:off x="658368" y="3108960"/>
            <a:ext cx="2340865" cy="73152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TextBox 125"/>
          <p:cNvSpPr txBox="1"/>
          <p:nvPr/>
        </p:nvSpPr>
        <p:spPr>
          <a:xfrm>
            <a:off x="731520" y="3262307"/>
            <a:ext cx="2194560" cy="424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defRPr b="1" sz="13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issue = ACCIDENTAL</a:t>
            </a:r>
          </a:p>
          <a:p>
            <a:pPr>
              <a:defRPr b="1" sz="13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care_plus = UNKNOWN</a:t>
            </a:r>
          </a:p>
        </p:txBody>
      </p:sp>
      <p:sp>
        <p:nvSpPr>
          <p:cNvPr id="253" name="TextBox 126"/>
          <p:cNvSpPr txBox="1"/>
          <p:nvPr/>
        </p:nvSpPr>
        <p:spPr>
          <a:xfrm>
            <a:off x="658368" y="3886200"/>
            <a:ext cx="2340865" cy="424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3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Warranty rule ruled out; Care+ rule needs one more fact</a:t>
            </a:r>
          </a:p>
        </p:txBody>
      </p:sp>
      <p:sp>
        <p:nvSpPr>
          <p:cNvPr id="254" name="Rounded Rectangle 127"/>
          <p:cNvSpPr/>
          <p:nvPr/>
        </p:nvSpPr>
        <p:spPr>
          <a:xfrm>
            <a:off x="3383279" y="1554480"/>
            <a:ext cx="2560321" cy="29718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5" name="Rounded Rectangle 128"/>
          <p:cNvSpPr/>
          <p:nvPr/>
        </p:nvSpPr>
        <p:spPr>
          <a:xfrm>
            <a:off x="3383279" y="1554480"/>
            <a:ext cx="2560321" cy="502920"/>
          </a:xfrm>
          <a:prstGeom prst="roundRect">
            <a:avLst>
              <a:gd name="adj" fmla="val 6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129"/>
          <p:cNvSpPr txBox="1"/>
          <p:nvPr/>
        </p:nvSpPr>
        <p:spPr>
          <a:xfrm>
            <a:off x="3493008" y="1685229"/>
            <a:ext cx="234086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defRPr sz="1200">
                <a:solidFill>
                  <a:srgbClr val="D9C7F7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STEP 2  </a:t>
            </a:r>
            <a:r>
              <a:rPr b="1" sz="1500">
                <a:solidFill>
                  <a:srgbClr val="FFFFFF"/>
                </a:solidFill>
              </a:rPr>
              <a:t>Missing fact detected</a:t>
            </a:r>
          </a:p>
        </p:txBody>
      </p:sp>
      <p:sp>
        <p:nvSpPr>
          <p:cNvPr id="257" name="TextBox 130"/>
          <p:cNvSpPr txBox="1"/>
          <p:nvPr/>
        </p:nvSpPr>
        <p:spPr>
          <a:xfrm>
            <a:off x="3493008" y="2121407"/>
            <a:ext cx="2340865" cy="701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ts val="200"/>
              </a:spcBef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Cover depends on Care+. Instead of guessing, ClauseStream asks:</a:t>
            </a:r>
          </a:p>
        </p:txBody>
      </p:sp>
      <p:sp>
        <p:nvSpPr>
          <p:cNvPr id="258" name="Rounded Rectangle 131"/>
          <p:cNvSpPr/>
          <p:nvPr/>
        </p:nvSpPr>
        <p:spPr>
          <a:xfrm>
            <a:off x="3493008" y="3108960"/>
            <a:ext cx="2340865" cy="73152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TextBox 132"/>
          <p:cNvSpPr txBox="1"/>
          <p:nvPr/>
        </p:nvSpPr>
        <p:spPr>
          <a:xfrm>
            <a:off x="3566159" y="3262307"/>
            <a:ext cx="2194561" cy="424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13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“Do you have an active Samsung Care+ plan?”</a:t>
            </a:r>
          </a:p>
        </p:txBody>
      </p:sp>
      <p:sp>
        <p:nvSpPr>
          <p:cNvPr id="260" name="Rounded Rectangle 133"/>
          <p:cNvSpPr/>
          <p:nvPr/>
        </p:nvSpPr>
        <p:spPr>
          <a:xfrm>
            <a:off x="6217920" y="1554480"/>
            <a:ext cx="2560321" cy="29718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Rounded Rectangle 134"/>
          <p:cNvSpPr/>
          <p:nvPr/>
        </p:nvSpPr>
        <p:spPr>
          <a:xfrm>
            <a:off x="6217920" y="1554480"/>
            <a:ext cx="2560321" cy="502920"/>
          </a:xfrm>
          <a:prstGeom prst="roundRect">
            <a:avLst>
              <a:gd name="adj" fmla="val 6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135"/>
          <p:cNvSpPr txBox="1"/>
          <p:nvPr/>
        </p:nvSpPr>
        <p:spPr>
          <a:xfrm>
            <a:off x="6327647" y="1685229"/>
            <a:ext cx="234086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defRPr sz="1200">
                <a:solidFill>
                  <a:srgbClr val="D9C7F7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STEP 3  </a:t>
            </a:r>
            <a:r>
              <a:rPr b="1" sz="1500">
                <a:solidFill>
                  <a:srgbClr val="FFFFFF"/>
                </a:solidFill>
              </a:rPr>
              <a:t>User gives a fact</a:t>
            </a:r>
          </a:p>
        </p:txBody>
      </p:sp>
      <p:sp>
        <p:nvSpPr>
          <p:cNvPr id="263" name="TextBox 136"/>
          <p:cNvSpPr txBox="1"/>
          <p:nvPr/>
        </p:nvSpPr>
        <p:spPr>
          <a:xfrm>
            <a:off x="6327647" y="2121407"/>
            <a:ext cx="2340865" cy="244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ts val="200"/>
              </a:spcBef>
              <a:defRPr i="1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“No, I don’t have Care+.”</a:t>
            </a:r>
          </a:p>
        </p:txBody>
      </p:sp>
      <p:sp>
        <p:nvSpPr>
          <p:cNvPr id="264" name="Rounded Rectangle 137"/>
          <p:cNvSpPr/>
          <p:nvPr/>
        </p:nvSpPr>
        <p:spPr>
          <a:xfrm>
            <a:off x="6327647" y="3108960"/>
            <a:ext cx="2340865" cy="73152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138"/>
          <p:cNvSpPr txBox="1"/>
          <p:nvPr/>
        </p:nvSpPr>
        <p:spPr>
          <a:xfrm>
            <a:off x="6400800" y="3363907"/>
            <a:ext cx="2194560" cy="22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13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care_plus = NO</a:t>
            </a:r>
          </a:p>
        </p:txBody>
      </p:sp>
      <p:sp>
        <p:nvSpPr>
          <p:cNvPr id="266" name="TextBox 139"/>
          <p:cNvSpPr txBox="1"/>
          <p:nvPr/>
        </p:nvSpPr>
        <p:spPr>
          <a:xfrm>
            <a:off x="6327647" y="3886200"/>
            <a:ext cx="2340865" cy="22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3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Not covered: repair is chargeable</a:t>
            </a:r>
          </a:p>
        </p:txBody>
      </p:sp>
      <p:sp>
        <p:nvSpPr>
          <p:cNvPr id="267" name="Rounded Rectangle 140"/>
          <p:cNvSpPr/>
          <p:nvPr/>
        </p:nvSpPr>
        <p:spPr>
          <a:xfrm>
            <a:off x="9052559" y="1554480"/>
            <a:ext cx="2560321" cy="297180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Rounded Rectangle 141"/>
          <p:cNvSpPr/>
          <p:nvPr/>
        </p:nvSpPr>
        <p:spPr>
          <a:xfrm>
            <a:off x="9052559" y="1554480"/>
            <a:ext cx="2560321" cy="502920"/>
          </a:xfrm>
          <a:prstGeom prst="roundRect">
            <a:avLst>
              <a:gd name="adj" fmla="val 6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9" name="TextBox 142"/>
          <p:cNvSpPr txBox="1"/>
          <p:nvPr/>
        </p:nvSpPr>
        <p:spPr>
          <a:xfrm>
            <a:off x="9162288" y="1685229"/>
            <a:ext cx="2340864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defRPr sz="1200">
                <a:solidFill>
                  <a:srgbClr val="D9C7F7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STEP 4  </a:t>
            </a:r>
            <a:r>
              <a:rPr b="1" sz="1500">
                <a:solidFill>
                  <a:srgbClr val="FFFFFF"/>
                </a:solidFill>
              </a:rPr>
              <a:t>New fact arrives</a:t>
            </a:r>
          </a:p>
        </p:txBody>
      </p:sp>
      <p:sp>
        <p:nvSpPr>
          <p:cNvPr id="270" name="TextBox 143"/>
          <p:cNvSpPr txBox="1"/>
          <p:nvPr/>
        </p:nvSpPr>
        <p:spPr>
          <a:xfrm>
            <a:off x="9162288" y="2121407"/>
            <a:ext cx="2340864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spcBef>
                <a:spcPts val="200"/>
              </a:spcBef>
              <a:defRPr i="1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“Sorry, I just activated Care+ yesterday.”</a:t>
            </a:r>
          </a:p>
        </p:txBody>
      </p:sp>
      <p:sp>
        <p:nvSpPr>
          <p:cNvPr id="271" name="Rounded Rectangle 144"/>
          <p:cNvSpPr/>
          <p:nvPr/>
        </p:nvSpPr>
        <p:spPr>
          <a:xfrm>
            <a:off x="9162288" y="3108960"/>
            <a:ext cx="2340865" cy="73152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145"/>
          <p:cNvSpPr txBox="1"/>
          <p:nvPr/>
        </p:nvSpPr>
        <p:spPr>
          <a:xfrm>
            <a:off x="9235440" y="3262307"/>
            <a:ext cx="2194561" cy="424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13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Answer revised: only 2 of 4 clauses re-checked</a:t>
            </a:r>
          </a:p>
        </p:txBody>
      </p:sp>
      <p:sp>
        <p:nvSpPr>
          <p:cNvPr id="273" name="TextBox 146"/>
          <p:cNvSpPr txBox="1"/>
          <p:nvPr/>
        </p:nvSpPr>
        <p:spPr>
          <a:xfrm>
            <a:off x="9162288" y="3886200"/>
            <a:ext cx="2340864" cy="22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3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Now covered by Care+</a:t>
            </a:r>
          </a:p>
        </p:txBody>
      </p:sp>
      <p:sp>
        <p:nvSpPr>
          <p:cNvPr id="274" name="Rounded Rectangle 147"/>
          <p:cNvSpPr/>
          <p:nvPr/>
        </p:nvSpPr>
        <p:spPr>
          <a:xfrm>
            <a:off x="548640" y="4663440"/>
            <a:ext cx="11064241" cy="86868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TextBox 148"/>
          <p:cNvSpPr txBox="1"/>
          <p:nvPr/>
        </p:nvSpPr>
        <p:spPr>
          <a:xfrm>
            <a:off x="704088" y="4838771"/>
            <a:ext cx="10753343" cy="518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defRPr b="1" sz="1600">
                <a:solidFill>
                  <a:srgbClr val="D9C7F7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Final answer: </a:t>
            </a:r>
            <a:r>
              <a:rPr>
                <a:solidFill>
                  <a:srgbClr val="FFFFFF"/>
                </a:solidFill>
              </a:rPr>
              <a:t>Covered by your Samsung Care+ plan, with a service fee per claim. Bring your purchase invoice and phone IMEI to the service centre.</a:t>
            </a:r>
          </a:p>
        </p:txBody>
      </p:sp>
      <p:sp>
        <p:nvSpPr>
          <p:cNvPr id="276" name="Rounded Rectangle 149"/>
          <p:cNvSpPr/>
          <p:nvPr/>
        </p:nvSpPr>
        <p:spPr>
          <a:xfrm>
            <a:off x="548640" y="5715000"/>
            <a:ext cx="3566160" cy="594360"/>
          </a:xfrm>
          <a:prstGeom prst="roundRect">
            <a:avLst>
              <a:gd name="adj" fmla="val 6000"/>
            </a:avLst>
          </a:prstGeom>
          <a:solidFill>
            <a:srgbClr val="E3F4F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150"/>
          <p:cNvSpPr txBox="1"/>
          <p:nvPr/>
        </p:nvSpPr>
        <p:spPr>
          <a:xfrm>
            <a:off x="566927" y="5880171"/>
            <a:ext cx="3529585" cy="264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6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No silent assumptions</a:t>
            </a:r>
          </a:p>
        </p:txBody>
      </p:sp>
      <p:sp>
        <p:nvSpPr>
          <p:cNvPr id="278" name="Rounded Rectangle 151"/>
          <p:cNvSpPr/>
          <p:nvPr/>
        </p:nvSpPr>
        <p:spPr>
          <a:xfrm>
            <a:off x="4297679" y="5715000"/>
            <a:ext cx="3566160" cy="594360"/>
          </a:xfrm>
          <a:prstGeom prst="roundRect">
            <a:avLst>
              <a:gd name="adj" fmla="val 6000"/>
            </a:avLst>
          </a:prstGeom>
          <a:solidFill>
            <a:srgbClr val="E3F4F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152"/>
          <p:cNvSpPr txBox="1"/>
          <p:nvPr/>
        </p:nvSpPr>
        <p:spPr>
          <a:xfrm>
            <a:off x="4315967" y="5880171"/>
            <a:ext cx="3529584" cy="264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6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Only the affected clauses re-checked</a:t>
            </a:r>
          </a:p>
        </p:txBody>
      </p:sp>
      <p:sp>
        <p:nvSpPr>
          <p:cNvPr id="280" name="Rounded Rectangle 153"/>
          <p:cNvSpPr/>
          <p:nvPr/>
        </p:nvSpPr>
        <p:spPr>
          <a:xfrm>
            <a:off x="8046718" y="5715000"/>
            <a:ext cx="3566161" cy="594360"/>
          </a:xfrm>
          <a:prstGeom prst="roundRect">
            <a:avLst>
              <a:gd name="adj" fmla="val 6000"/>
            </a:avLst>
          </a:prstGeom>
          <a:solidFill>
            <a:srgbClr val="E3F4F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TextBox 154"/>
          <p:cNvSpPr txBox="1"/>
          <p:nvPr/>
        </p:nvSpPr>
        <p:spPr>
          <a:xfrm>
            <a:off x="8065006" y="5880171"/>
            <a:ext cx="3529584" cy="264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6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Hinglish-ready, runs on-device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125;p6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Tools and tech stack used</a:t>
            </a:r>
          </a:p>
        </p:txBody>
      </p:sp>
      <p:sp>
        <p:nvSpPr>
          <p:cNvPr id="286" name="TextBox 125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Built and running in the prototype, with a reason for each tool</a:t>
            </a:r>
          </a:p>
        </p:txBody>
      </p:sp>
      <p:sp>
        <p:nvSpPr>
          <p:cNvPr id="287" name="Rounded Rectangle 126"/>
          <p:cNvSpPr/>
          <p:nvPr/>
        </p:nvSpPr>
        <p:spPr>
          <a:xfrm>
            <a:off x="548640" y="1508760"/>
            <a:ext cx="2523745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127"/>
          <p:cNvSpPr txBox="1"/>
          <p:nvPr/>
        </p:nvSpPr>
        <p:spPr>
          <a:xfrm>
            <a:off x="676655" y="1581911"/>
            <a:ext cx="2304289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INTERFACE</a:t>
            </a:r>
          </a:p>
        </p:txBody>
      </p:sp>
      <p:sp>
        <p:nvSpPr>
          <p:cNvPr id="289" name="TextBox 128"/>
          <p:cNvSpPr txBox="1"/>
          <p:nvPr/>
        </p:nvSpPr>
        <p:spPr>
          <a:xfrm>
            <a:off x="676655" y="1874518"/>
            <a:ext cx="2304289" cy="264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6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HTML + CSS + JavaScript</a:t>
            </a:r>
          </a:p>
        </p:txBody>
      </p:sp>
      <p:sp>
        <p:nvSpPr>
          <p:cNvPr id="290" name="TextBox 129"/>
          <p:cNvSpPr txBox="1"/>
          <p:nvPr/>
        </p:nvSpPr>
        <p:spPr>
          <a:xfrm>
            <a:off x="676655" y="2377438"/>
            <a:ext cx="2304289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Single-page app: open index.html and it runs</a:t>
            </a:r>
          </a:p>
        </p:txBody>
      </p:sp>
      <p:sp>
        <p:nvSpPr>
          <p:cNvPr id="291" name="Rounded Rectangle 130"/>
          <p:cNvSpPr/>
          <p:nvPr/>
        </p:nvSpPr>
        <p:spPr>
          <a:xfrm>
            <a:off x="3395167" y="1508760"/>
            <a:ext cx="2523745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131"/>
          <p:cNvSpPr txBox="1"/>
          <p:nvPr/>
        </p:nvSpPr>
        <p:spPr>
          <a:xfrm>
            <a:off x="3523182" y="1581911"/>
            <a:ext cx="2304289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RETRIEVAL</a:t>
            </a:r>
          </a:p>
        </p:txBody>
      </p:sp>
      <p:sp>
        <p:nvSpPr>
          <p:cNvPr id="293" name="TextBox 132"/>
          <p:cNvSpPr txBox="1"/>
          <p:nvPr/>
        </p:nvSpPr>
        <p:spPr>
          <a:xfrm>
            <a:off x="3523182" y="1874518"/>
            <a:ext cx="2304289" cy="264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6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IDF keyword scoring</a:t>
            </a:r>
          </a:p>
        </p:txBody>
      </p:sp>
      <p:sp>
        <p:nvSpPr>
          <p:cNvPr id="294" name="TextBox 133"/>
          <p:cNvSpPr txBox="1"/>
          <p:nvPr/>
        </p:nvSpPr>
        <p:spPr>
          <a:xfrm>
            <a:off x="3523182" y="2377438"/>
            <a:ext cx="2304289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Finds candidate clauses; boosted by known facts</a:t>
            </a:r>
          </a:p>
        </p:txBody>
      </p:sp>
      <p:sp>
        <p:nvSpPr>
          <p:cNvPr id="295" name="Rounded Rectangle 134"/>
          <p:cNvSpPr/>
          <p:nvPr/>
        </p:nvSpPr>
        <p:spPr>
          <a:xfrm>
            <a:off x="6241693" y="1508760"/>
            <a:ext cx="2523745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135"/>
          <p:cNvSpPr txBox="1"/>
          <p:nvPr/>
        </p:nvSpPr>
        <p:spPr>
          <a:xfrm>
            <a:off x="6369709" y="1581911"/>
            <a:ext cx="2304289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EXTRACTION</a:t>
            </a:r>
          </a:p>
        </p:txBody>
      </p:sp>
      <p:sp>
        <p:nvSpPr>
          <p:cNvPr id="297" name="TextBox 136"/>
          <p:cNvSpPr txBox="1"/>
          <p:nvPr/>
        </p:nvSpPr>
        <p:spPr>
          <a:xfrm>
            <a:off x="6369709" y="1874518"/>
            <a:ext cx="2304289" cy="264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6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Pattern-based extractor</a:t>
            </a:r>
          </a:p>
        </p:txBody>
      </p:sp>
      <p:sp>
        <p:nvSpPr>
          <p:cNvPr id="298" name="TextBox 137"/>
          <p:cNvSpPr txBox="1"/>
          <p:nvPr/>
        </p:nvSpPr>
        <p:spPr>
          <a:xfrm>
            <a:off x="6369709" y="2377438"/>
            <a:ext cx="2304289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Reads facts from English and Hinglish messages</a:t>
            </a:r>
          </a:p>
        </p:txBody>
      </p:sp>
      <p:sp>
        <p:nvSpPr>
          <p:cNvPr id="299" name="Rounded Rectangle 138"/>
          <p:cNvSpPr/>
          <p:nvPr/>
        </p:nvSpPr>
        <p:spPr>
          <a:xfrm>
            <a:off x="9088221" y="1508760"/>
            <a:ext cx="2523745" cy="1600201"/>
          </a:xfrm>
          <a:prstGeom prst="roundRect">
            <a:avLst>
              <a:gd name="adj" fmla="val 6000"/>
            </a:avLst>
          </a:prstGeom>
          <a:solidFill>
            <a:srgbClr val="E4D9F5"/>
          </a:solidFill>
          <a:ln w="12700">
            <a:solidFill>
              <a:srgbClr val="704EA6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139"/>
          <p:cNvSpPr txBox="1"/>
          <p:nvPr/>
        </p:nvSpPr>
        <p:spPr>
          <a:xfrm>
            <a:off x="9216236" y="1581911"/>
            <a:ext cx="2304288" cy="211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APPLICABILITY</a:t>
            </a:r>
          </a:p>
        </p:txBody>
      </p:sp>
      <p:sp>
        <p:nvSpPr>
          <p:cNvPr id="301" name="TextBox 140"/>
          <p:cNvSpPr txBox="1"/>
          <p:nvPr/>
        </p:nvSpPr>
        <p:spPr>
          <a:xfrm>
            <a:off x="9216236" y="1874518"/>
            <a:ext cx="2304288" cy="264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6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Deterministic evaluator</a:t>
            </a:r>
          </a:p>
        </p:txBody>
      </p:sp>
      <p:sp>
        <p:nvSpPr>
          <p:cNvPr id="302" name="TextBox 141"/>
          <p:cNvSpPr txBox="1"/>
          <p:nvPr/>
        </p:nvSpPr>
        <p:spPr>
          <a:xfrm>
            <a:off x="9216236" y="2377438"/>
            <a:ext cx="2304288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Checks each clause’s conditions with plain code</a:t>
            </a:r>
          </a:p>
        </p:txBody>
      </p:sp>
      <p:sp>
        <p:nvSpPr>
          <p:cNvPr id="303" name="Rounded Rectangle 142"/>
          <p:cNvSpPr/>
          <p:nvPr/>
        </p:nvSpPr>
        <p:spPr>
          <a:xfrm>
            <a:off x="548640" y="3291838"/>
            <a:ext cx="2523745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4" name="TextBox 143"/>
          <p:cNvSpPr txBox="1"/>
          <p:nvPr/>
        </p:nvSpPr>
        <p:spPr>
          <a:xfrm>
            <a:off x="676655" y="3364991"/>
            <a:ext cx="2304289" cy="21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STATE</a:t>
            </a:r>
          </a:p>
        </p:txBody>
      </p:sp>
      <p:sp>
        <p:nvSpPr>
          <p:cNvPr id="305" name="TextBox 144"/>
          <p:cNvSpPr txBox="1"/>
          <p:nvPr/>
        </p:nvSpPr>
        <p:spPr>
          <a:xfrm>
            <a:off x="676655" y="3657598"/>
            <a:ext cx="2304289" cy="264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6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Situation + delta cache</a:t>
            </a:r>
          </a:p>
        </p:txBody>
      </p:sp>
      <p:sp>
        <p:nvSpPr>
          <p:cNvPr id="306" name="TextBox 145"/>
          <p:cNvSpPr txBox="1"/>
          <p:nvPr/>
        </p:nvSpPr>
        <p:spPr>
          <a:xfrm>
            <a:off x="676655" y="4160520"/>
            <a:ext cx="2304289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Re-checks only clauses whose facts changed</a:t>
            </a:r>
          </a:p>
        </p:txBody>
      </p:sp>
      <p:sp>
        <p:nvSpPr>
          <p:cNvPr id="307" name="Rounded Rectangle 146"/>
          <p:cNvSpPr/>
          <p:nvPr/>
        </p:nvSpPr>
        <p:spPr>
          <a:xfrm>
            <a:off x="3395167" y="3291838"/>
            <a:ext cx="2523745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TextBox 147"/>
          <p:cNvSpPr txBox="1"/>
          <p:nvPr/>
        </p:nvSpPr>
        <p:spPr>
          <a:xfrm>
            <a:off x="3523182" y="3364991"/>
            <a:ext cx="2304289" cy="21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VERIFICATION</a:t>
            </a:r>
          </a:p>
        </p:txBody>
      </p:sp>
      <p:sp>
        <p:nvSpPr>
          <p:cNvPr id="309" name="TextBox 148"/>
          <p:cNvSpPr txBox="1"/>
          <p:nvPr/>
        </p:nvSpPr>
        <p:spPr>
          <a:xfrm>
            <a:off x="3523182" y="3657598"/>
            <a:ext cx="2304289" cy="264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6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Claim ledger + verifier</a:t>
            </a:r>
          </a:p>
        </p:txBody>
      </p:sp>
      <p:sp>
        <p:nvSpPr>
          <p:cNvPr id="310" name="TextBox 149"/>
          <p:cNvSpPr txBox="1"/>
          <p:nvPr/>
        </p:nvSpPr>
        <p:spPr>
          <a:xfrm>
            <a:off x="3523182" y="4160520"/>
            <a:ext cx="2304289" cy="701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Clause-ID and entailment checks block unsupported claims</a:t>
            </a:r>
          </a:p>
        </p:txBody>
      </p:sp>
      <p:sp>
        <p:nvSpPr>
          <p:cNvPr id="311" name="Rounded Rectangle 150"/>
          <p:cNvSpPr/>
          <p:nvPr/>
        </p:nvSpPr>
        <p:spPr>
          <a:xfrm>
            <a:off x="6241693" y="3291838"/>
            <a:ext cx="2523745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151"/>
          <p:cNvSpPr txBox="1"/>
          <p:nvPr/>
        </p:nvSpPr>
        <p:spPr>
          <a:xfrm>
            <a:off x="6369709" y="3364991"/>
            <a:ext cx="2304289" cy="21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TESTING</a:t>
            </a:r>
          </a:p>
        </p:txBody>
      </p:sp>
      <p:sp>
        <p:nvSpPr>
          <p:cNvPr id="313" name="TextBox 152"/>
          <p:cNvSpPr txBox="1"/>
          <p:nvPr/>
        </p:nvSpPr>
        <p:spPr>
          <a:xfrm>
            <a:off x="6369709" y="3657598"/>
            <a:ext cx="2304289" cy="264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6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Node test suite</a:t>
            </a:r>
          </a:p>
        </p:txBody>
      </p:sp>
      <p:sp>
        <p:nvSpPr>
          <p:cNvPr id="314" name="TextBox 153"/>
          <p:cNvSpPr txBox="1"/>
          <p:nvPr/>
        </p:nvSpPr>
        <p:spPr>
          <a:xfrm>
            <a:off x="6369709" y="4160520"/>
            <a:ext cx="2304289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6 automated tests cover the engine</a:t>
            </a:r>
          </a:p>
        </p:txBody>
      </p:sp>
      <p:sp>
        <p:nvSpPr>
          <p:cNvPr id="315" name="Rounded Rectangle 154"/>
          <p:cNvSpPr/>
          <p:nvPr/>
        </p:nvSpPr>
        <p:spPr>
          <a:xfrm>
            <a:off x="9088221" y="3291838"/>
            <a:ext cx="2523745" cy="160020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TextBox 155"/>
          <p:cNvSpPr txBox="1"/>
          <p:nvPr/>
        </p:nvSpPr>
        <p:spPr>
          <a:xfrm>
            <a:off x="9216236" y="3364991"/>
            <a:ext cx="2304288" cy="211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PRIVACY</a:t>
            </a:r>
          </a:p>
        </p:txBody>
      </p:sp>
      <p:sp>
        <p:nvSpPr>
          <p:cNvPr id="317" name="TextBox 156"/>
          <p:cNvSpPr txBox="1"/>
          <p:nvPr/>
        </p:nvSpPr>
        <p:spPr>
          <a:xfrm>
            <a:off x="9216236" y="3657598"/>
            <a:ext cx="2304288" cy="264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6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Fully client-side</a:t>
            </a:r>
          </a:p>
        </p:txBody>
      </p:sp>
      <p:sp>
        <p:nvSpPr>
          <p:cNvPr id="318" name="TextBox 157"/>
          <p:cNvSpPr txBox="1"/>
          <p:nvPr/>
        </p:nvSpPr>
        <p:spPr>
          <a:xfrm>
            <a:off x="9216236" y="4160520"/>
            <a:ext cx="2304288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No server or API keys; user data stays on device</a:t>
            </a:r>
          </a:p>
        </p:txBody>
      </p:sp>
      <p:sp>
        <p:nvSpPr>
          <p:cNvPr id="319" name="Rounded Rectangle 158"/>
          <p:cNvSpPr/>
          <p:nvPr/>
        </p:nvSpPr>
        <p:spPr>
          <a:xfrm>
            <a:off x="548640" y="5166359"/>
            <a:ext cx="11064241" cy="73152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TextBox 159"/>
          <p:cNvSpPr txBox="1"/>
          <p:nvPr/>
        </p:nvSpPr>
        <p:spPr>
          <a:xfrm>
            <a:off x="704088" y="5357720"/>
            <a:ext cx="10753343" cy="34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 algn="ctr">
              <a:def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Deterministic code decides what applies.  </a:t>
            </a:r>
            <a:r>
              <a:rPr>
                <a:solidFill>
                  <a:srgbClr val="E8DAFF"/>
                </a:solidFill>
              </a:rPr>
              <a:t>No cloud call needed.</a:t>
            </a:r>
          </a:p>
        </p:txBody>
      </p:sp>
      <p:sp>
        <p:nvSpPr>
          <p:cNvPr id="321" name="TextBox 160"/>
          <p:cNvSpPr txBox="1"/>
          <p:nvPr/>
        </p:nvSpPr>
        <p:spPr>
          <a:xfrm>
            <a:off x="566927" y="5943599"/>
            <a:ext cx="11027666" cy="244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 algn="ctr">
              <a:defRPr i="1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Planned for production: FastAPI + WebSocket, FAISS + SQLite FTS5 hybrid retrieval, LLM-based extraction, Docker Compose.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131;p7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Impact &amp; Use case</a:t>
            </a:r>
          </a:p>
        </p:txBody>
      </p:sp>
      <p:sp>
        <p:nvSpPr>
          <p:cNvPr id="326" name="TextBox 131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Main use case: Samsung Care warranty support</a:t>
            </a:r>
          </a:p>
        </p:txBody>
      </p:sp>
      <p:sp>
        <p:nvSpPr>
          <p:cNvPr id="327" name="Rounded Rectangle 132"/>
          <p:cNvSpPr/>
          <p:nvPr/>
        </p:nvSpPr>
        <p:spPr>
          <a:xfrm>
            <a:off x="548640" y="1463039"/>
            <a:ext cx="5577841" cy="3749040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8" name="TextBox 133"/>
          <p:cNvSpPr txBox="1"/>
          <p:nvPr/>
        </p:nvSpPr>
        <p:spPr>
          <a:xfrm>
            <a:off x="749808" y="1508760"/>
            <a:ext cx="5175504" cy="27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7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Samsung Care policy</a:t>
            </a:r>
          </a:p>
        </p:txBody>
      </p:sp>
      <p:sp>
        <p:nvSpPr>
          <p:cNvPr id="329" name="TextBox 134"/>
          <p:cNvSpPr txBox="1"/>
          <p:nvPr/>
        </p:nvSpPr>
        <p:spPr>
          <a:xfrm>
            <a:off x="749808" y="1874518"/>
            <a:ext cx="5175504" cy="8228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spcBef>
                <a:spcPts val="200"/>
              </a:spcBef>
              <a:defRPr sz="16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Defect within 12 months: free repair</a:t>
            </a:r>
          </a:p>
          <a:p>
            <a:pPr>
              <a:spcBef>
                <a:spcPts val="200"/>
              </a:spcBef>
              <a:defRPr sz="16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Accidental damage: covered only with Care+</a:t>
            </a:r>
          </a:p>
          <a:p>
            <a:pPr>
              <a:spcBef>
                <a:spcPts val="200"/>
              </a:spcBef>
              <a:defRPr sz="16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Anything else: chargeable</a:t>
            </a:r>
          </a:p>
        </p:txBody>
      </p:sp>
      <p:sp>
        <p:nvSpPr>
          <p:cNvPr id="330" name="TextBox 135"/>
          <p:cNvSpPr txBox="1"/>
          <p:nvPr/>
        </p:nvSpPr>
        <p:spPr>
          <a:xfrm>
            <a:off x="749808" y="2926079"/>
            <a:ext cx="5175504" cy="14606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spcBef>
                <a:spcPts val="600"/>
              </a:spcBef>
              <a:defRPr b="1" sz="15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User: </a:t>
            </a:r>
            <a:r>
              <a:rPr b="0" i="1">
                <a:solidFill>
                  <a:srgbClr val="2B2B3A"/>
                </a:solidFill>
              </a:rPr>
              <a:t>“My screen cracked, is it covered?”</a:t>
            </a:r>
            <a:endParaRPr b="0" i="1">
              <a:solidFill>
                <a:srgbClr val="2B2B3A"/>
              </a:solidFill>
            </a:endParaRPr>
          </a:p>
          <a:p>
            <a:pPr>
              <a:spcBef>
                <a:spcPts val="600"/>
              </a:spcBef>
              <a:defRPr b="1" sz="15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AI: </a:t>
            </a:r>
            <a:r>
              <a:rPr b="0" i="1">
                <a:solidFill>
                  <a:srgbClr val="2B2B3A"/>
                </a:solidFill>
              </a:rPr>
              <a:t>“Do you have an active Care+ plan?”</a:t>
            </a:r>
            <a:endParaRPr b="0" i="1">
              <a:solidFill>
                <a:srgbClr val="2B2B3A"/>
              </a:solidFill>
            </a:endParaRPr>
          </a:p>
          <a:p>
            <a:pPr>
              <a:spcBef>
                <a:spcPts val="600"/>
              </a:spcBef>
              <a:defRPr b="1" sz="15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User: </a:t>
            </a:r>
            <a:r>
              <a:rPr b="0" i="1">
                <a:solidFill>
                  <a:srgbClr val="2B2B3A"/>
                </a:solidFill>
              </a:rPr>
              <a:t>“No.” </a:t>
            </a:r>
            <a:r>
              <a:rPr>
                <a:solidFill>
                  <a:srgbClr val="0E8F7E"/>
                </a:solidFill>
              </a:rPr>
              <a:t>→ chargeable</a:t>
            </a:r>
            <a:endParaRPr>
              <a:solidFill>
                <a:srgbClr val="0E8F7E"/>
              </a:solidFill>
            </a:endParaRPr>
          </a:p>
          <a:p>
            <a:pPr>
              <a:spcBef>
                <a:spcPts val="600"/>
              </a:spcBef>
              <a:defRPr b="1" sz="15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User: </a:t>
            </a:r>
            <a:r>
              <a:rPr b="0" i="1">
                <a:solidFill>
                  <a:srgbClr val="2B2B3A"/>
                </a:solidFill>
              </a:rPr>
              <a:t>“I activated it yesterday.” </a:t>
            </a:r>
            <a:r>
              <a:rPr>
                <a:solidFill>
                  <a:srgbClr val="0E8F7E"/>
                </a:solidFill>
              </a:rPr>
              <a:t>→ covered</a:t>
            </a:r>
            <a:endParaRPr>
              <a:solidFill>
                <a:srgbClr val="0E8F7E"/>
              </a:solidFill>
            </a:endParaRPr>
          </a:p>
          <a:p>
            <a:pPr>
              <a:spcBef>
                <a:spcPts val="600"/>
              </a:spcBef>
              <a:defRPr b="1" sz="15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Answer: covered by Care+, with a service fee.</a:t>
            </a:r>
          </a:p>
        </p:txBody>
      </p:sp>
      <p:sp>
        <p:nvSpPr>
          <p:cNvPr id="331" name="Rounded Rectangle 136"/>
          <p:cNvSpPr/>
          <p:nvPr/>
        </p:nvSpPr>
        <p:spPr>
          <a:xfrm>
            <a:off x="6355079" y="1463039"/>
            <a:ext cx="2514601" cy="17830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34" name="Oval 137"/>
          <p:cNvGrpSpPr/>
          <p:nvPr/>
        </p:nvGrpSpPr>
        <p:grpSpPr>
          <a:xfrm>
            <a:off x="6492240" y="1600200"/>
            <a:ext cx="384049" cy="384048"/>
            <a:chOff x="0" y="0"/>
            <a:chExt cx="384047" cy="384047"/>
          </a:xfrm>
        </p:grpSpPr>
        <p:sp>
          <p:nvSpPr>
            <p:cNvPr id="332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3" name="1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335" name="TextBox 138"/>
          <p:cNvSpPr txBox="1"/>
          <p:nvPr/>
        </p:nvSpPr>
        <p:spPr>
          <a:xfrm>
            <a:off x="6510528" y="2057399"/>
            <a:ext cx="2203705" cy="27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7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More precise answers</a:t>
            </a:r>
          </a:p>
        </p:txBody>
      </p:sp>
      <p:sp>
        <p:nvSpPr>
          <p:cNvPr id="336" name="TextBox 139"/>
          <p:cNvSpPr txBox="1"/>
          <p:nvPr/>
        </p:nvSpPr>
        <p:spPr>
          <a:xfrm>
            <a:off x="6510528" y="2560320"/>
            <a:ext cx="2203705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Fewer wrong coverage decisions</a:t>
            </a:r>
          </a:p>
        </p:txBody>
      </p:sp>
      <p:sp>
        <p:nvSpPr>
          <p:cNvPr id="337" name="Rounded Rectangle 140"/>
          <p:cNvSpPr/>
          <p:nvPr/>
        </p:nvSpPr>
        <p:spPr>
          <a:xfrm>
            <a:off x="9006840" y="1463039"/>
            <a:ext cx="2514601" cy="17830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40" name="Oval 141"/>
          <p:cNvGrpSpPr/>
          <p:nvPr/>
        </p:nvGrpSpPr>
        <p:grpSpPr>
          <a:xfrm>
            <a:off x="9144000" y="1600200"/>
            <a:ext cx="384048" cy="384048"/>
            <a:chOff x="0" y="0"/>
            <a:chExt cx="384047" cy="384047"/>
          </a:xfrm>
        </p:grpSpPr>
        <p:sp>
          <p:nvSpPr>
            <p:cNvPr id="338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9" name="2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341" name="TextBox 142"/>
          <p:cNvSpPr txBox="1"/>
          <p:nvPr/>
        </p:nvSpPr>
        <p:spPr>
          <a:xfrm>
            <a:off x="9162288" y="2057399"/>
            <a:ext cx="2203704" cy="273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7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Targeted questions</a:t>
            </a:r>
          </a:p>
        </p:txBody>
      </p:sp>
      <p:sp>
        <p:nvSpPr>
          <p:cNvPr id="342" name="TextBox 143"/>
          <p:cNvSpPr txBox="1"/>
          <p:nvPr/>
        </p:nvSpPr>
        <p:spPr>
          <a:xfrm>
            <a:off x="9162288" y="2560320"/>
            <a:ext cx="2203704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Ask only what can change the answer</a:t>
            </a:r>
          </a:p>
        </p:txBody>
      </p:sp>
      <p:sp>
        <p:nvSpPr>
          <p:cNvPr id="343" name="Rounded Rectangle 144"/>
          <p:cNvSpPr/>
          <p:nvPr/>
        </p:nvSpPr>
        <p:spPr>
          <a:xfrm>
            <a:off x="6355079" y="3383279"/>
            <a:ext cx="2514601" cy="17830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46" name="Oval 145"/>
          <p:cNvGrpSpPr/>
          <p:nvPr/>
        </p:nvGrpSpPr>
        <p:grpSpPr>
          <a:xfrm>
            <a:off x="6492240" y="3520440"/>
            <a:ext cx="384049" cy="384049"/>
            <a:chOff x="0" y="0"/>
            <a:chExt cx="384047" cy="384047"/>
          </a:xfrm>
        </p:grpSpPr>
        <p:sp>
          <p:nvSpPr>
            <p:cNvPr id="344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5" name="3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347" name="TextBox 146"/>
          <p:cNvSpPr txBox="1"/>
          <p:nvPr/>
        </p:nvSpPr>
        <p:spPr>
          <a:xfrm>
            <a:off x="6510528" y="3977640"/>
            <a:ext cx="2203705" cy="27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7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Incremental updates</a:t>
            </a:r>
          </a:p>
        </p:txBody>
      </p:sp>
      <p:sp>
        <p:nvSpPr>
          <p:cNvPr id="348" name="TextBox 147"/>
          <p:cNvSpPr txBox="1"/>
          <p:nvPr/>
        </p:nvSpPr>
        <p:spPr>
          <a:xfrm>
            <a:off x="6510528" y="4480559"/>
            <a:ext cx="2203705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New facts change only dependent rules</a:t>
            </a:r>
          </a:p>
        </p:txBody>
      </p:sp>
      <p:sp>
        <p:nvSpPr>
          <p:cNvPr id="349" name="Rounded Rectangle 148"/>
          <p:cNvSpPr/>
          <p:nvPr/>
        </p:nvSpPr>
        <p:spPr>
          <a:xfrm>
            <a:off x="9006840" y="3383279"/>
            <a:ext cx="2514601" cy="17830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52" name="Oval 149"/>
          <p:cNvGrpSpPr/>
          <p:nvPr/>
        </p:nvGrpSpPr>
        <p:grpSpPr>
          <a:xfrm>
            <a:off x="9144000" y="3520440"/>
            <a:ext cx="384048" cy="384049"/>
            <a:chOff x="0" y="0"/>
            <a:chExt cx="384047" cy="384047"/>
          </a:xfrm>
        </p:grpSpPr>
        <p:sp>
          <p:nvSpPr>
            <p:cNvPr id="350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1" name="4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353" name="TextBox 150"/>
          <p:cNvSpPr txBox="1"/>
          <p:nvPr/>
        </p:nvSpPr>
        <p:spPr>
          <a:xfrm>
            <a:off x="9162288" y="3977640"/>
            <a:ext cx="2203704" cy="27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7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Traceable decisions</a:t>
            </a:r>
          </a:p>
        </p:txBody>
      </p:sp>
      <p:sp>
        <p:nvSpPr>
          <p:cNvPr id="354" name="TextBox 151"/>
          <p:cNvSpPr txBox="1"/>
          <p:nvPr/>
        </p:nvSpPr>
        <p:spPr>
          <a:xfrm>
            <a:off x="9162288" y="4480559"/>
            <a:ext cx="2203704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Every answer points to its clause</a:t>
            </a:r>
          </a:p>
        </p:txBody>
      </p:sp>
      <p:sp>
        <p:nvSpPr>
          <p:cNvPr id="355" name="Rounded Rectangle 152"/>
          <p:cNvSpPr/>
          <p:nvPr/>
        </p:nvSpPr>
        <p:spPr>
          <a:xfrm>
            <a:off x="548640" y="5440679"/>
            <a:ext cx="11064241" cy="82296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TextBox 153"/>
          <p:cNvSpPr txBox="1"/>
          <p:nvPr/>
        </p:nvSpPr>
        <p:spPr>
          <a:xfrm>
            <a:off x="704088" y="5703904"/>
            <a:ext cx="10753343" cy="2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 algn="ctr">
              <a:defRPr b="1" sz="1800">
                <a:solidFill>
                  <a:srgbClr val="D9C7F7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One engine, two live domains: </a:t>
            </a:r>
            <a:r>
              <a:rPr>
                <a:solidFill>
                  <a:srgbClr val="FFFFFF"/>
                </a:solidFill>
              </a:rPr>
              <a:t>Samsung Care + travel policy • English + Hinglish • fully on-device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137;p8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Innovation highlights, results and limitations</a:t>
            </a:r>
          </a:p>
        </p:txBody>
      </p:sp>
      <p:sp>
        <p:nvSpPr>
          <p:cNvPr id="361" name="TextBox 137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Part 1/3: Innovation highlights</a:t>
            </a:r>
          </a:p>
        </p:txBody>
      </p:sp>
      <p:sp>
        <p:nvSpPr>
          <p:cNvPr id="362" name="Rounded Rectangle 138"/>
          <p:cNvSpPr/>
          <p:nvPr/>
        </p:nvSpPr>
        <p:spPr>
          <a:xfrm>
            <a:off x="548640" y="1463039"/>
            <a:ext cx="1737361" cy="288036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3" name="TextBox 139"/>
          <p:cNvSpPr txBox="1"/>
          <p:nvPr/>
        </p:nvSpPr>
        <p:spPr>
          <a:xfrm>
            <a:off x="658368" y="1508760"/>
            <a:ext cx="877825" cy="408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64" name="TextBox 140"/>
          <p:cNvSpPr txBox="1"/>
          <p:nvPr/>
        </p:nvSpPr>
        <p:spPr>
          <a:xfrm>
            <a:off x="658368" y="2057399"/>
            <a:ext cx="1517905" cy="470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5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Applicability-aware RAG</a:t>
            </a:r>
          </a:p>
        </p:txBody>
      </p:sp>
      <p:sp>
        <p:nvSpPr>
          <p:cNvPr id="365" name="TextBox 141"/>
          <p:cNvSpPr txBox="1"/>
          <p:nvPr/>
        </p:nvSpPr>
        <p:spPr>
          <a:xfrm>
            <a:off x="658368" y="2834639"/>
            <a:ext cx="1517905" cy="1158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Checks if each retrieved rule applies to the user, not just if it is relevant.</a:t>
            </a:r>
          </a:p>
        </p:txBody>
      </p:sp>
      <p:sp>
        <p:nvSpPr>
          <p:cNvPr id="366" name="Rounded Rectangle 142"/>
          <p:cNvSpPr/>
          <p:nvPr/>
        </p:nvSpPr>
        <p:spPr>
          <a:xfrm>
            <a:off x="2414016" y="1463039"/>
            <a:ext cx="1737361" cy="288036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TextBox 143"/>
          <p:cNvSpPr txBox="1"/>
          <p:nvPr/>
        </p:nvSpPr>
        <p:spPr>
          <a:xfrm>
            <a:off x="2523743" y="1508760"/>
            <a:ext cx="877825" cy="408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68" name="TextBox 144"/>
          <p:cNvSpPr txBox="1"/>
          <p:nvPr/>
        </p:nvSpPr>
        <p:spPr>
          <a:xfrm>
            <a:off x="2523743" y="2057399"/>
            <a:ext cx="1517905" cy="470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5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Situation-driven retrieval</a:t>
            </a:r>
          </a:p>
        </p:txBody>
      </p:sp>
      <p:sp>
        <p:nvSpPr>
          <p:cNvPr id="369" name="TextBox 145"/>
          <p:cNvSpPr txBox="1"/>
          <p:nvPr/>
        </p:nvSpPr>
        <p:spPr>
          <a:xfrm>
            <a:off x="2523743" y="2834639"/>
            <a:ext cx="1517905" cy="701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Search uses facts gathered across the whole chat.</a:t>
            </a:r>
          </a:p>
        </p:txBody>
      </p:sp>
      <p:sp>
        <p:nvSpPr>
          <p:cNvPr id="370" name="Rounded Rectangle 146"/>
          <p:cNvSpPr/>
          <p:nvPr/>
        </p:nvSpPr>
        <p:spPr>
          <a:xfrm>
            <a:off x="4279391" y="1463039"/>
            <a:ext cx="1737361" cy="288036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TextBox 147"/>
          <p:cNvSpPr txBox="1"/>
          <p:nvPr/>
        </p:nvSpPr>
        <p:spPr>
          <a:xfrm>
            <a:off x="4389118" y="1508760"/>
            <a:ext cx="877825" cy="408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72" name="TextBox 148"/>
          <p:cNvSpPr txBox="1"/>
          <p:nvPr/>
        </p:nvSpPr>
        <p:spPr>
          <a:xfrm>
            <a:off x="4389118" y="2057399"/>
            <a:ext cx="1517905" cy="470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5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Incremental reasoning</a:t>
            </a:r>
          </a:p>
        </p:txBody>
      </p:sp>
      <p:sp>
        <p:nvSpPr>
          <p:cNvPr id="373" name="TextBox 149"/>
          <p:cNvSpPr txBox="1"/>
          <p:nvPr/>
        </p:nvSpPr>
        <p:spPr>
          <a:xfrm>
            <a:off x="4389118" y="2834639"/>
            <a:ext cx="1517905" cy="93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 new fact re-checks only the rules that depend on it.</a:t>
            </a:r>
          </a:p>
        </p:txBody>
      </p:sp>
      <p:sp>
        <p:nvSpPr>
          <p:cNvPr id="374" name="Rounded Rectangle 150"/>
          <p:cNvSpPr/>
          <p:nvPr/>
        </p:nvSpPr>
        <p:spPr>
          <a:xfrm>
            <a:off x="6144767" y="1463039"/>
            <a:ext cx="1737361" cy="288036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TextBox 151"/>
          <p:cNvSpPr txBox="1"/>
          <p:nvPr/>
        </p:nvSpPr>
        <p:spPr>
          <a:xfrm>
            <a:off x="6254494" y="1508760"/>
            <a:ext cx="877825" cy="408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76" name="TextBox 152"/>
          <p:cNvSpPr txBox="1"/>
          <p:nvPr/>
        </p:nvSpPr>
        <p:spPr>
          <a:xfrm>
            <a:off x="6254494" y="2057399"/>
            <a:ext cx="1517905" cy="470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5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Explicit uncertainty</a:t>
            </a:r>
          </a:p>
        </p:txBody>
      </p:sp>
      <p:sp>
        <p:nvSpPr>
          <p:cNvPr id="377" name="TextBox 153"/>
          <p:cNvSpPr txBox="1"/>
          <p:nvPr/>
        </p:nvSpPr>
        <p:spPr>
          <a:xfrm>
            <a:off x="6254494" y="2834639"/>
            <a:ext cx="1517905" cy="701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Missing info is marked UNKNOWN, never guessed.</a:t>
            </a:r>
          </a:p>
        </p:txBody>
      </p:sp>
      <p:sp>
        <p:nvSpPr>
          <p:cNvPr id="378" name="Rounded Rectangle 154"/>
          <p:cNvSpPr/>
          <p:nvPr/>
        </p:nvSpPr>
        <p:spPr>
          <a:xfrm>
            <a:off x="8010143" y="1463039"/>
            <a:ext cx="1737361" cy="288036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9" name="TextBox 155"/>
          <p:cNvSpPr txBox="1"/>
          <p:nvPr/>
        </p:nvSpPr>
        <p:spPr>
          <a:xfrm>
            <a:off x="8119871" y="1508760"/>
            <a:ext cx="877825" cy="408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80" name="TextBox 156"/>
          <p:cNvSpPr txBox="1"/>
          <p:nvPr/>
        </p:nvSpPr>
        <p:spPr>
          <a:xfrm>
            <a:off x="8119870" y="2057399"/>
            <a:ext cx="1517906" cy="2414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5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Verified claims</a:t>
            </a:r>
          </a:p>
        </p:txBody>
      </p:sp>
      <p:sp>
        <p:nvSpPr>
          <p:cNvPr id="381" name="TextBox 157"/>
          <p:cNvSpPr txBox="1"/>
          <p:nvPr/>
        </p:nvSpPr>
        <p:spPr>
          <a:xfrm>
            <a:off x="8119870" y="2834639"/>
            <a:ext cx="1517906" cy="93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Every claim cites a clause; unsupported ones are blocked.</a:t>
            </a:r>
          </a:p>
        </p:txBody>
      </p:sp>
      <p:sp>
        <p:nvSpPr>
          <p:cNvPr id="382" name="Rounded Rectangle 158"/>
          <p:cNvSpPr/>
          <p:nvPr/>
        </p:nvSpPr>
        <p:spPr>
          <a:xfrm>
            <a:off x="9875518" y="1463039"/>
            <a:ext cx="1737361" cy="288036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3" name="TextBox 159"/>
          <p:cNvSpPr txBox="1"/>
          <p:nvPr/>
        </p:nvSpPr>
        <p:spPr>
          <a:xfrm>
            <a:off x="9985247" y="1508760"/>
            <a:ext cx="877825" cy="408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2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384" name="TextBox 160"/>
          <p:cNvSpPr txBox="1"/>
          <p:nvPr/>
        </p:nvSpPr>
        <p:spPr>
          <a:xfrm>
            <a:off x="9985247" y="2057399"/>
            <a:ext cx="1517905" cy="470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5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On-device + Hinglish</a:t>
            </a:r>
          </a:p>
        </p:txBody>
      </p:sp>
      <p:sp>
        <p:nvSpPr>
          <p:cNvPr id="385" name="TextBox 161"/>
          <p:cNvSpPr txBox="1"/>
          <p:nvPr/>
        </p:nvSpPr>
        <p:spPr>
          <a:xfrm>
            <a:off x="9985247" y="2834639"/>
            <a:ext cx="1517905" cy="93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Runs fully in the browser and understands English and Hinglish.</a:t>
            </a:r>
          </a:p>
        </p:txBody>
      </p:sp>
      <p:sp>
        <p:nvSpPr>
          <p:cNvPr id="386" name="TextBox 162"/>
          <p:cNvSpPr txBox="1"/>
          <p:nvPr/>
        </p:nvSpPr>
        <p:spPr>
          <a:xfrm>
            <a:off x="566928" y="4634169"/>
            <a:ext cx="362102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15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Every rule gets one of 3 labels:</a:t>
            </a:r>
          </a:p>
        </p:txBody>
      </p:sp>
      <p:sp>
        <p:nvSpPr>
          <p:cNvPr id="387" name="Rounded Rectangle 163"/>
          <p:cNvSpPr/>
          <p:nvPr/>
        </p:nvSpPr>
        <p:spPr>
          <a:xfrm>
            <a:off x="4206240" y="4526279"/>
            <a:ext cx="2331721" cy="457201"/>
          </a:xfrm>
          <a:prstGeom prst="roundRect">
            <a:avLst>
              <a:gd name="adj" fmla="val 6000"/>
            </a:avLst>
          </a:prstGeom>
          <a:solidFill>
            <a:srgbClr val="E3F4F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TextBox 164"/>
          <p:cNvSpPr txBox="1"/>
          <p:nvPr/>
        </p:nvSpPr>
        <p:spPr>
          <a:xfrm>
            <a:off x="4224528" y="4634169"/>
            <a:ext cx="229514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5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APPLIES</a:t>
            </a:r>
          </a:p>
        </p:txBody>
      </p:sp>
      <p:sp>
        <p:nvSpPr>
          <p:cNvPr id="389" name="Rounded Rectangle 165"/>
          <p:cNvSpPr/>
          <p:nvPr/>
        </p:nvSpPr>
        <p:spPr>
          <a:xfrm>
            <a:off x="6720840" y="4526279"/>
            <a:ext cx="2331721" cy="457201"/>
          </a:xfrm>
          <a:prstGeom prst="roundRect">
            <a:avLst>
              <a:gd name="adj" fmla="val 6000"/>
            </a:avLst>
          </a:prstGeom>
          <a:solidFill>
            <a:srgbClr val="FBE7E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0" name="TextBox 166"/>
          <p:cNvSpPr txBox="1"/>
          <p:nvPr/>
        </p:nvSpPr>
        <p:spPr>
          <a:xfrm>
            <a:off x="6739128" y="4634169"/>
            <a:ext cx="229514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5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NOT APPLICABLE</a:t>
            </a:r>
          </a:p>
        </p:txBody>
      </p:sp>
      <p:sp>
        <p:nvSpPr>
          <p:cNvPr id="391" name="Rounded Rectangle 167"/>
          <p:cNvSpPr/>
          <p:nvPr/>
        </p:nvSpPr>
        <p:spPr>
          <a:xfrm>
            <a:off x="9235440" y="4526279"/>
            <a:ext cx="2331721" cy="457201"/>
          </a:xfrm>
          <a:prstGeom prst="roundRect">
            <a:avLst>
              <a:gd name="adj" fmla="val 6000"/>
            </a:avLst>
          </a:prstGeom>
          <a:solidFill>
            <a:srgbClr val="FFF3D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2" name="TextBox 168"/>
          <p:cNvSpPr txBox="1"/>
          <p:nvPr/>
        </p:nvSpPr>
        <p:spPr>
          <a:xfrm>
            <a:off x="9253728" y="4634169"/>
            <a:ext cx="229514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500">
                <a:solidFill>
                  <a:srgbClr val="B879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UNKNOWN</a:t>
            </a:r>
          </a:p>
        </p:txBody>
      </p:sp>
      <p:sp>
        <p:nvSpPr>
          <p:cNvPr id="393" name="Rounded Rectangle 169"/>
          <p:cNvSpPr/>
          <p:nvPr/>
        </p:nvSpPr>
        <p:spPr>
          <a:xfrm>
            <a:off x="548640" y="5212079"/>
            <a:ext cx="11064241" cy="109728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TextBox 170"/>
          <p:cNvSpPr txBox="1"/>
          <p:nvPr/>
        </p:nvSpPr>
        <p:spPr>
          <a:xfrm>
            <a:off x="704088" y="5490412"/>
            <a:ext cx="10753343" cy="54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We combine streaming situation tracking, clause-level retrieval, applicability reasoning and delta-based revision as a modular, on-device capability for existing AI assistants.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137;p8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Innovation highlights, results and limitations</a:t>
            </a:r>
          </a:p>
        </p:txBody>
      </p:sp>
      <p:sp>
        <p:nvSpPr>
          <p:cNvPr id="399" name="TextBox 137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Part 2/3: Results. Prototype evidence so far, and how we will measure the rest</a:t>
            </a:r>
          </a:p>
        </p:txBody>
      </p:sp>
      <p:sp>
        <p:nvSpPr>
          <p:cNvPr id="400" name="Rounded Rectangle 138"/>
          <p:cNvSpPr/>
          <p:nvPr/>
        </p:nvSpPr>
        <p:spPr>
          <a:xfrm>
            <a:off x="548640" y="1417319"/>
            <a:ext cx="2560321" cy="30175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03" name="Oval 139"/>
          <p:cNvGrpSpPr/>
          <p:nvPr/>
        </p:nvGrpSpPr>
        <p:grpSpPr>
          <a:xfrm>
            <a:off x="685800" y="1527047"/>
            <a:ext cx="384048" cy="384049"/>
            <a:chOff x="0" y="0"/>
            <a:chExt cx="384047" cy="384047"/>
          </a:xfrm>
        </p:grpSpPr>
        <p:sp>
          <p:nvSpPr>
            <p:cNvPr id="401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2" name="1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404" name="TextBox 140"/>
          <p:cNvSpPr txBox="1"/>
          <p:nvPr/>
        </p:nvSpPr>
        <p:spPr>
          <a:xfrm>
            <a:off x="704087" y="1965960"/>
            <a:ext cx="2249426" cy="2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8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Applicability accuracy</a:t>
            </a:r>
          </a:p>
        </p:txBody>
      </p:sp>
      <p:sp>
        <p:nvSpPr>
          <p:cNvPr id="405" name="TextBox 141"/>
          <p:cNvSpPr txBox="1"/>
          <p:nvPr/>
        </p:nvSpPr>
        <p:spPr>
          <a:xfrm>
            <a:off x="704087" y="2514599"/>
            <a:ext cx="2249426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Does it correctly identify which clauses apply?</a:t>
            </a:r>
          </a:p>
        </p:txBody>
      </p:sp>
      <p:sp>
        <p:nvSpPr>
          <p:cNvPr id="406" name="Rounded Rectangle 142"/>
          <p:cNvSpPr/>
          <p:nvPr/>
        </p:nvSpPr>
        <p:spPr>
          <a:xfrm>
            <a:off x="658368" y="3383279"/>
            <a:ext cx="2340863" cy="96012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TextBox 143"/>
          <p:cNvSpPr txBox="1"/>
          <p:nvPr/>
        </p:nvSpPr>
        <p:spPr>
          <a:xfrm>
            <a:off x="749807" y="3628706"/>
            <a:ext cx="2157986" cy="4601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Measured by</a:t>
            </a:r>
          </a:p>
          <a:p>
            <a:pPr>
              <a:spcBef>
                <a:spcPts val="200"/>
              </a:spcBef>
              <a:defRPr b="1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Precision / Recall / F1</a:t>
            </a:r>
          </a:p>
        </p:txBody>
      </p:sp>
      <p:sp>
        <p:nvSpPr>
          <p:cNvPr id="408" name="Rounded Rectangle 144"/>
          <p:cNvSpPr/>
          <p:nvPr/>
        </p:nvSpPr>
        <p:spPr>
          <a:xfrm>
            <a:off x="3383279" y="1417319"/>
            <a:ext cx="2560321" cy="30175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11" name="Oval 145"/>
          <p:cNvGrpSpPr/>
          <p:nvPr/>
        </p:nvGrpSpPr>
        <p:grpSpPr>
          <a:xfrm>
            <a:off x="3520438" y="1527047"/>
            <a:ext cx="384049" cy="384049"/>
            <a:chOff x="0" y="0"/>
            <a:chExt cx="384047" cy="384047"/>
          </a:xfrm>
        </p:grpSpPr>
        <p:sp>
          <p:nvSpPr>
            <p:cNvPr id="409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0" name="2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412" name="TextBox 146"/>
          <p:cNvSpPr txBox="1"/>
          <p:nvPr/>
        </p:nvSpPr>
        <p:spPr>
          <a:xfrm>
            <a:off x="3538726" y="1965960"/>
            <a:ext cx="2249425" cy="2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8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Clarification quality</a:t>
            </a:r>
          </a:p>
        </p:txBody>
      </p:sp>
      <p:sp>
        <p:nvSpPr>
          <p:cNvPr id="413" name="TextBox 147"/>
          <p:cNvSpPr txBox="1"/>
          <p:nvPr/>
        </p:nvSpPr>
        <p:spPr>
          <a:xfrm>
            <a:off x="3538726" y="2514599"/>
            <a:ext cx="2249425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Does it ask when a missing fact can change the answer?</a:t>
            </a:r>
          </a:p>
        </p:txBody>
      </p:sp>
      <p:sp>
        <p:nvSpPr>
          <p:cNvPr id="414" name="Rounded Rectangle 148"/>
          <p:cNvSpPr/>
          <p:nvPr/>
        </p:nvSpPr>
        <p:spPr>
          <a:xfrm>
            <a:off x="3493008" y="3383279"/>
            <a:ext cx="2340864" cy="96012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5" name="TextBox 149"/>
          <p:cNvSpPr txBox="1"/>
          <p:nvPr/>
        </p:nvSpPr>
        <p:spPr>
          <a:xfrm>
            <a:off x="3584447" y="3514406"/>
            <a:ext cx="2157985" cy="688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Measured by</a:t>
            </a:r>
          </a:p>
          <a:p>
            <a:pPr>
              <a:spcBef>
                <a:spcPts val="200"/>
              </a:spcBef>
              <a:defRPr b="1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Needed questions asked vs unnecessary ones avoided</a:t>
            </a:r>
          </a:p>
        </p:txBody>
      </p:sp>
      <p:sp>
        <p:nvSpPr>
          <p:cNvPr id="416" name="Rounded Rectangle 150"/>
          <p:cNvSpPr/>
          <p:nvPr/>
        </p:nvSpPr>
        <p:spPr>
          <a:xfrm>
            <a:off x="6217918" y="1417319"/>
            <a:ext cx="2560321" cy="30175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19" name="Oval 151"/>
          <p:cNvGrpSpPr/>
          <p:nvPr/>
        </p:nvGrpSpPr>
        <p:grpSpPr>
          <a:xfrm>
            <a:off x="6355079" y="1527047"/>
            <a:ext cx="384049" cy="384049"/>
            <a:chOff x="0" y="0"/>
            <a:chExt cx="384047" cy="384047"/>
          </a:xfrm>
        </p:grpSpPr>
        <p:sp>
          <p:nvSpPr>
            <p:cNvPr id="417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8" name="3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420" name="TextBox 152"/>
          <p:cNvSpPr txBox="1"/>
          <p:nvPr/>
        </p:nvSpPr>
        <p:spPr>
          <a:xfrm>
            <a:off x="6373367" y="1965960"/>
            <a:ext cx="2249425" cy="2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8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Incremental efficiency</a:t>
            </a:r>
          </a:p>
        </p:txBody>
      </p:sp>
      <p:sp>
        <p:nvSpPr>
          <p:cNvPr id="421" name="TextBox 153"/>
          <p:cNvSpPr txBox="1"/>
          <p:nvPr/>
        </p:nvSpPr>
        <p:spPr>
          <a:xfrm>
            <a:off x="6373367" y="2514599"/>
            <a:ext cx="2249425" cy="472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Does late information force a full re-run?</a:t>
            </a:r>
          </a:p>
        </p:txBody>
      </p:sp>
      <p:sp>
        <p:nvSpPr>
          <p:cNvPr id="422" name="Rounded Rectangle 154"/>
          <p:cNvSpPr/>
          <p:nvPr/>
        </p:nvSpPr>
        <p:spPr>
          <a:xfrm>
            <a:off x="6327647" y="3383279"/>
            <a:ext cx="2340864" cy="96012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TextBox 155"/>
          <p:cNvSpPr txBox="1"/>
          <p:nvPr/>
        </p:nvSpPr>
        <p:spPr>
          <a:xfrm>
            <a:off x="6419086" y="3514406"/>
            <a:ext cx="2157985" cy="688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Measured by</a:t>
            </a:r>
          </a:p>
          <a:p>
            <a:pPr>
              <a:spcBef>
                <a:spcPts val="200"/>
              </a:spcBef>
              <a:defRPr b="1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Full re-run vs delta re-evaluation</a:t>
            </a:r>
          </a:p>
        </p:txBody>
      </p:sp>
      <p:sp>
        <p:nvSpPr>
          <p:cNvPr id="424" name="Rounded Rectangle 156"/>
          <p:cNvSpPr/>
          <p:nvPr/>
        </p:nvSpPr>
        <p:spPr>
          <a:xfrm>
            <a:off x="9052559" y="1417319"/>
            <a:ext cx="2560321" cy="301752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27" name="Oval 157"/>
          <p:cNvGrpSpPr/>
          <p:nvPr/>
        </p:nvGrpSpPr>
        <p:grpSpPr>
          <a:xfrm>
            <a:off x="9189718" y="1527047"/>
            <a:ext cx="384049" cy="384049"/>
            <a:chOff x="0" y="0"/>
            <a:chExt cx="384047" cy="384047"/>
          </a:xfrm>
        </p:grpSpPr>
        <p:sp>
          <p:nvSpPr>
            <p:cNvPr id="425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704EA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6" name="4"/>
            <p:cNvSpPr txBox="1"/>
            <p:nvPr/>
          </p:nvSpPr>
          <p:spPr>
            <a:xfrm>
              <a:off x="56242" y="97344"/>
              <a:ext cx="271564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428" name="TextBox 158"/>
          <p:cNvSpPr txBox="1"/>
          <p:nvPr/>
        </p:nvSpPr>
        <p:spPr>
          <a:xfrm>
            <a:off x="9208006" y="1965960"/>
            <a:ext cx="2249425" cy="2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800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Answer reliability</a:t>
            </a:r>
          </a:p>
        </p:txBody>
      </p:sp>
      <p:sp>
        <p:nvSpPr>
          <p:cNvPr id="429" name="TextBox 159"/>
          <p:cNvSpPr txBox="1"/>
          <p:nvPr/>
        </p:nvSpPr>
        <p:spPr>
          <a:xfrm>
            <a:off x="9208006" y="2514599"/>
            <a:ext cx="2249425" cy="7014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Are generated claims supported by retrieved clauses?</a:t>
            </a:r>
          </a:p>
        </p:txBody>
      </p:sp>
      <p:sp>
        <p:nvSpPr>
          <p:cNvPr id="430" name="Rounded Rectangle 160"/>
          <p:cNvSpPr/>
          <p:nvPr/>
        </p:nvSpPr>
        <p:spPr>
          <a:xfrm>
            <a:off x="9162287" y="3383279"/>
            <a:ext cx="2340864" cy="96012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TextBox 161"/>
          <p:cNvSpPr txBox="1"/>
          <p:nvPr/>
        </p:nvSpPr>
        <p:spPr>
          <a:xfrm>
            <a:off x="9253727" y="3514406"/>
            <a:ext cx="2157985" cy="6887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spcBef>
                <a:spcPts val="200"/>
              </a:spcBef>
              <a:defRPr b="1" sz="12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Measured by</a:t>
            </a:r>
          </a:p>
          <a:p>
            <a:pPr>
              <a:spcBef>
                <a:spcPts val="200"/>
              </a:spcBef>
              <a:defRPr b="1">
                <a:solidFill>
                  <a:srgbClr val="2E1A5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Unsupported claims blocked / citation check rate</a:t>
            </a:r>
          </a:p>
        </p:txBody>
      </p:sp>
      <p:sp>
        <p:nvSpPr>
          <p:cNvPr id="432" name="Rounded Rectangle 162"/>
          <p:cNvSpPr/>
          <p:nvPr/>
        </p:nvSpPr>
        <p:spPr>
          <a:xfrm>
            <a:off x="548640" y="4572000"/>
            <a:ext cx="11064241" cy="502920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TextBox 163"/>
          <p:cNvSpPr txBox="1"/>
          <p:nvPr/>
        </p:nvSpPr>
        <p:spPr>
          <a:xfrm>
            <a:off x="704088" y="4686502"/>
            <a:ext cx="10753343" cy="27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Next: a labelled benchmark against an LLM + standard RAG baseline.</a:t>
            </a:r>
          </a:p>
        </p:txBody>
      </p:sp>
      <p:sp>
        <p:nvSpPr>
          <p:cNvPr id="434" name="TextBox 164"/>
          <p:cNvSpPr txBox="1"/>
          <p:nvPr/>
        </p:nvSpPr>
        <p:spPr>
          <a:xfrm>
            <a:off x="566927" y="5166359"/>
            <a:ext cx="11027666" cy="221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3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Measured so far in the prototype</a:t>
            </a:r>
          </a:p>
        </p:txBody>
      </p:sp>
      <p:sp>
        <p:nvSpPr>
          <p:cNvPr id="435" name="Rounded Rectangle 165"/>
          <p:cNvSpPr/>
          <p:nvPr/>
        </p:nvSpPr>
        <p:spPr>
          <a:xfrm>
            <a:off x="548640" y="5486400"/>
            <a:ext cx="3566160" cy="868681"/>
          </a:xfrm>
          <a:prstGeom prst="roundRect">
            <a:avLst>
              <a:gd name="adj" fmla="val 6000"/>
            </a:avLst>
          </a:prstGeom>
          <a:solidFill>
            <a:srgbClr val="E3F4F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6" name="TextBox 166"/>
          <p:cNvSpPr txBox="1"/>
          <p:nvPr/>
        </p:nvSpPr>
        <p:spPr>
          <a:xfrm>
            <a:off x="658368" y="5746340"/>
            <a:ext cx="1335025" cy="34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22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6 / 6</a:t>
            </a:r>
          </a:p>
        </p:txBody>
      </p:sp>
      <p:sp>
        <p:nvSpPr>
          <p:cNvPr id="437" name="TextBox 167"/>
          <p:cNvSpPr txBox="1"/>
          <p:nvPr/>
        </p:nvSpPr>
        <p:spPr>
          <a:xfrm>
            <a:off x="2029967" y="5809927"/>
            <a:ext cx="2020825" cy="221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sz="13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engine tests passing</a:t>
            </a:r>
          </a:p>
        </p:txBody>
      </p:sp>
      <p:sp>
        <p:nvSpPr>
          <p:cNvPr id="438" name="Rounded Rectangle 168"/>
          <p:cNvSpPr/>
          <p:nvPr/>
        </p:nvSpPr>
        <p:spPr>
          <a:xfrm>
            <a:off x="4297679" y="5486400"/>
            <a:ext cx="3566160" cy="868681"/>
          </a:xfrm>
          <a:prstGeom prst="roundRect">
            <a:avLst>
              <a:gd name="adj" fmla="val 6000"/>
            </a:avLst>
          </a:prstGeom>
          <a:solidFill>
            <a:srgbClr val="E3F4F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TextBox 169"/>
          <p:cNvSpPr txBox="1"/>
          <p:nvPr/>
        </p:nvSpPr>
        <p:spPr>
          <a:xfrm>
            <a:off x="4407406" y="5746340"/>
            <a:ext cx="1335025" cy="34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22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1–2 of 4</a:t>
            </a:r>
          </a:p>
        </p:txBody>
      </p:sp>
      <p:sp>
        <p:nvSpPr>
          <p:cNvPr id="440" name="TextBox 170"/>
          <p:cNvSpPr txBox="1"/>
          <p:nvPr/>
        </p:nvSpPr>
        <p:spPr>
          <a:xfrm>
            <a:off x="5779006" y="5708327"/>
            <a:ext cx="2020825" cy="424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sz="13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clauses re-checked per new fact, not a full re-run</a:t>
            </a:r>
          </a:p>
        </p:txBody>
      </p:sp>
      <p:sp>
        <p:nvSpPr>
          <p:cNvPr id="441" name="Rounded Rectangle 171"/>
          <p:cNvSpPr/>
          <p:nvPr/>
        </p:nvSpPr>
        <p:spPr>
          <a:xfrm>
            <a:off x="8046718" y="5486400"/>
            <a:ext cx="3566161" cy="868681"/>
          </a:xfrm>
          <a:prstGeom prst="roundRect">
            <a:avLst>
              <a:gd name="adj" fmla="val 6000"/>
            </a:avLst>
          </a:prstGeom>
          <a:solidFill>
            <a:srgbClr val="E3F4F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TextBox 172"/>
          <p:cNvSpPr txBox="1"/>
          <p:nvPr/>
        </p:nvSpPr>
        <p:spPr>
          <a:xfrm>
            <a:off x="8156447" y="5746340"/>
            <a:ext cx="1335025" cy="348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b="1" sz="22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 domains</a:t>
            </a:r>
          </a:p>
        </p:txBody>
      </p:sp>
      <p:sp>
        <p:nvSpPr>
          <p:cNvPr id="443" name="TextBox 173"/>
          <p:cNvSpPr txBox="1"/>
          <p:nvPr/>
        </p:nvSpPr>
        <p:spPr>
          <a:xfrm>
            <a:off x="9528047" y="5708327"/>
            <a:ext cx="2020825" cy="424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>
              <a:defRPr sz="13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one engine: Samsung Care + travel policy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137;p8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Innovation highlights, results and limitations</a:t>
            </a:r>
          </a:p>
        </p:txBody>
      </p:sp>
      <p:sp>
        <p:nvSpPr>
          <p:cNvPr id="448" name="TextBox 137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Part 3/3: Limitations, and how we handle them</a:t>
            </a:r>
          </a:p>
        </p:txBody>
      </p:sp>
      <p:sp>
        <p:nvSpPr>
          <p:cNvPr id="449" name="Rounded Rectangle 138"/>
          <p:cNvSpPr/>
          <p:nvPr/>
        </p:nvSpPr>
        <p:spPr>
          <a:xfrm>
            <a:off x="548640" y="1463039"/>
            <a:ext cx="5440680" cy="178308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139"/>
          <p:cNvSpPr txBox="1"/>
          <p:nvPr/>
        </p:nvSpPr>
        <p:spPr>
          <a:xfrm>
            <a:off x="749807" y="1536191"/>
            <a:ext cx="503834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Fact and clause extraction</a:t>
            </a:r>
          </a:p>
        </p:txBody>
      </p:sp>
      <p:sp>
        <p:nvSpPr>
          <p:cNvPr id="451" name="TextBox 140"/>
          <p:cNvSpPr txBox="1"/>
          <p:nvPr/>
        </p:nvSpPr>
        <p:spPr>
          <a:xfrm>
            <a:off x="749807" y="1920239"/>
            <a:ext cx="5038346" cy="470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prototype uses simple pattern matching and hand-written clauses, so unusual phrasing can be missed.</a:t>
            </a:r>
          </a:p>
        </p:txBody>
      </p:sp>
      <p:sp>
        <p:nvSpPr>
          <p:cNvPr id="452" name="TextBox 141"/>
          <p:cNvSpPr txBox="1"/>
          <p:nvPr/>
        </p:nvSpPr>
        <p:spPr>
          <a:xfrm>
            <a:off x="749807" y="2514600"/>
            <a:ext cx="5038346" cy="470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defRPr b="1" sz="15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Mitigation: </a:t>
            </a:r>
            <a:r>
              <a:rPr b="0">
                <a:solidFill>
                  <a:srgbClr val="2B2B3A"/>
                </a:solidFill>
              </a:rPr>
              <a:t>LLM extraction into a small schema + human-labelled validation set</a:t>
            </a:r>
          </a:p>
        </p:txBody>
      </p:sp>
      <p:sp>
        <p:nvSpPr>
          <p:cNvPr id="453" name="Rounded Rectangle 142"/>
          <p:cNvSpPr/>
          <p:nvPr/>
        </p:nvSpPr>
        <p:spPr>
          <a:xfrm>
            <a:off x="6172200" y="1463039"/>
            <a:ext cx="5440680" cy="178308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TextBox 143"/>
          <p:cNvSpPr txBox="1"/>
          <p:nvPr/>
        </p:nvSpPr>
        <p:spPr>
          <a:xfrm>
            <a:off x="6373367" y="1536191"/>
            <a:ext cx="5038345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Complex dependencies</a:t>
            </a:r>
          </a:p>
        </p:txBody>
      </p:sp>
      <p:sp>
        <p:nvSpPr>
          <p:cNvPr id="455" name="TextBox 144"/>
          <p:cNvSpPr txBox="1"/>
          <p:nvPr/>
        </p:nvSpPr>
        <p:spPr>
          <a:xfrm>
            <a:off x="6373367" y="1920239"/>
            <a:ext cx="5038345" cy="470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Nested exceptions and cross-references are hard to evaluate automatically.</a:t>
            </a:r>
          </a:p>
        </p:txBody>
      </p:sp>
      <p:sp>
        <p:nvSpPr>
          <p:cNvPr id="456" name="TextBox 145"/>
          <p:cNvSpPr txBox="1"/>
          <p:nvPr/>
        </p:nvSpPr>
        <p:spPr>
          <a:xfrm>
            <a:off x="6373367" y="2514600"/>
            <a:ext cx="5038345" cy="470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defRPr b="1" sz="15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Mitigation: </a:t>
            </a:r>
            <a:r>
              <a:rPr b="0">
                <a:solidFill>
                  <a:srgbClr val="2B2B3A"/>
                </a:solidFill>
              </a:rPr>
              <a:t>Explicit dependency links; return UNKNOWN instead of guessing</a:t>
            </a:r>
          </a:p>
        </p:txBody>
      </p:sp>
      <p:sp>
        <p:nvSpPr>
          <p:cNvPr id="457" name="Rounded Rectangle 146"/>
          <p:cNvSpPr/>
          <p:nvPr/>
        </p:nvSpPr>
        <p:spPr>
          <a:xfrm>
            <a:off x="548640" y="3383279"/>
            <a:ext cx="5440680" cy="178308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TextBox 147"/>
          <p:cNvSpPr txBox="1"/>
          <p:nvPr/>
        </p:nvSpPr>
        <p:spPr>
          <a:xfrm>
            <a:off x="749807" y="3456432"/>
            <a:ext cx="5038346" cy="2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Clarification overhead</a:t>
            </a:r>
          </a:p>
        </p:txBody>
      </p:sp>
      <p:sp>
        <p:nvSpPr>
          <p:cNvPr id="459" name="TextBox 148"/>
          <p:cNvSpPr txBox="1"/>
          <p:nvPr/>
        </p:nvSpPr>
        <p:spPr>
          <a:xfrm>
            <a:off x="749807" y="3840479"/>
            <a:ext cx="5038346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Too many questions would frustrate users.</a:t>
            </a:r>
          </a:p>
        </p:txBody>
      </p:sp>
      <p:sp>
        <p:nvSpPr>
          <p:cNvPr id="460" name="TextBox 149"/>
          <p:cNvSpPr txBox="1"/>
          <p:nvPr/>
        </p:nvSpPr>
        <p:spPr>
          <a:xfrm>
            <a:off x="749807" y="4434840"/>
            <a:ext cx="5038346" cy="470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defRPr b="1" sz="15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Mitigation: </a:t>
            </a:r>
            <a:r>
              <a:rPr b="0">
                <a:solidFill>
                  <a:srgbClr val="2B2B3A"/>
                </a:solidFill>
              </a:rPr>
              <a:t>Ask only when the missing fact can change the answer</a:t>
            </a:r>
          </a:p>
        </p:txBody>
      </p:sp>
      <p:sp>
        <p:nvSpPr>
          <p:cNvPr id="461" name="Rounded Rectangle 150"/>
          <p:cNvSpPr/>
          <p:nvPr/>
        </p:nvSpPr>
        <p:spPr>
          <a:xfrm>
            <a:off x="6172200" y="3383279"/>
            <a:ext cx="5440680" cy="178308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TextBox 151"/>
          <p:cNvSpPr txBox="1"/>
          <p:nvPr/>
        </p:nvSpPr>
        <p:spPr>
          <a:xfrm>
            <a:off x="6373367" y="3456432"/>
            <a:ext cx="5038345" cy="296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b="1" sz="1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Corpus dependence</a:t>
            </a:r>
          </a:p>
        </p:txBody>
      </p:sp>
      <p:sp>
        <p:nvSpPr>
          <p:cNvPr id="463" name="TextBox 152"/>
          <p:cNvSpPr txBox="1"/>
          <p:nvPr/>
        </p:nvSpPr>
        <p:spPr>
          <a:xfrm>
            <a:off x="6373367" y="3840479"/>
            <a:ext cx="503834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system can’t reason beyond the knowledge it is given.</a:t>
            </a:r>
          </a:p>
        </p:txBody>
      </p:sp>
      <p:sp>
        <p:nvSpPr>
          <p:cNvPr id="464" name="TextBox 153"/>
          <p:cNvSpPr txBox="1"/>
          <p:nvPr/>
        </p:nvSpPr>
        <p:spPr>
          <a:xfrm>
            <a:off x="6373367" y="4434840"/>
            <a:ext cx="5038345" cy="241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defRPr b="1" sz="1500">
                <a:solidFill>
                  <a:srgbClr val="0E8F7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Mitigation: </a:t>
            </a:r>
            <a:r>
              <a:rPr b="0">
                <a:solidFill>
                  <a:srgbClr val="2B2B3A"/>
                </a:solidFill>
              </a:rPr>
              <a:t>Explicit uncertainty + clause-level provenance</a:t>
            </a:r>
          </a:p>
        </p:txBody>
      </p:sp>
      <p:sp>
        <p:nvSpPr>
          <p:cNvPr id="465" name="Rounded Rectangle 154"/>
          <p:cNvSpPr/>
          <p:nvPr/>
        </p:nvSpPr>
        <p:spPr>
          <a:xfrm>
            <a:off x="548640" y="5394959"/>
            <a:ext cx="11064241" cy="86868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TextBox 155"/>
          <p:cNvSpPr txBox="1"/>
          <p:nvPr/>
        </p:nvSpPr>
        <p:spPr>
          <a:xfrm>
            <a:off x="704088" y="5677497"/>
            <a:ext cx="10753343" cy="303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When evidence is insufficient, the system prefers “I need one more fact” over a confident guess.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143;p9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What’s next</a:t>
            </a:r>
          </a:p>
        </p:txBody>
      </p:sp>
      <p:sp>
        <p:nvSpPr>
          <p:cNvPr id="471" name="TextBox 143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 realistic roadmap</a:t>
            </a:r>
          </a:p>
        </p:txBody>
      </p:sp>
      <p:sp>
        <p:nvSpPr>
          <p:cNvPr id="472" name="Rounded Rectangle 144"/>
          <p:cNvSpPr/>
          <p:nvPr/>
        </p:nvSpPr>
        <p:spPr>
          <a:xfrm>
            <a:off x="548640" y="1463039"/>
            <a:ext cx="3566160" cy="38404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Rounded Rectangle 145"/>
          <p:cNvSpPr/>
          <p:nvPr/>
        </p:nvSpPr>
        <p:spPr>
          <a:xfrm>
            <a:off x="548640" y="1463039"/>
            <a:ext cx="3566160" cy="731521"/>
          </a:xfrm>
          <a:prstGeom prst="roundRect">
            <a:avLst>
              <a:gd name="adj" fmla="val 6000"/>
            </a:avLst>
          </a:prstGeom>
          <a:solidFill>
            <a:srgbClr val="0E8F7E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TextBox 146"/>
          <p:cNvSpPr txBox="1"/>
          <p:nvPr/>
        </p:nvSpPr>
        <p:spPr>
          <a:xfrm>
            <a:off x="704087" y="1575397"/>
            <a:ext cx="3255266" cy="506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defRPr sz="1300">
                <a:solidFill>
                  <a:srgbClr val="E8DA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Phase 1</a:t>
            </a:r>
          </a:p>
          <a:p>
            <a:pPr>
              <a:def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Current prototype</a:t>
            </a:r>
          </a:p>
        </p:txBody>
      </p:sp>
      <p:sp>
        <p:nvSpPr>
          <p:cNvPr id="475" name="TextBox 147"/>
          <p:cNvSpPr txBox="1"/>
          <p:nvPr/>
        </p:nvSpPr>
        <p:spPr>
          <a:xfrm>
            <a:off x="704087" y="2331720"/>
            <a:ext cx="3255266" cy="25690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Arial"/>
              </a:rPr>
              <a:t>✓  </a:t>
            </a:r>
            <a:r>
              <a:t>Clause index, 2 domains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Arial"/>
              </a:rPr>
              <a:t>✓  </a:t>
            </a:r>
            <a:r>
              <a:t>Situation tracking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Arial"/>
              </a:rPr>
              <a:t>✓  </a:t>
            </a:r>
            <a:r>
              <a:t>Applicability resolver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Arial"/>
              </a:rPr>
              <a:t>✓  </a:t>
            </a:r>
            <a:r>
              <a:t>Targeted clarification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Arial"/>
              </a:rPr>
              <a:t>✓  </a:t>
            </a:r>
            <a:r>
              <a:t>Clause-level verification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Arial"/>
              </a:rPr>
              <a:t>✓  </a:t>
            </a:r>
            <a:r>
              <a:t>Streaming + delta re-evaluation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Arial"/>
              </a:rPr>
              <a:t>✓  </a:t>
            </a:r>
            <a:r>
              <a:t>Hinglish + on-device</a:t>
            </a:r>
          </a:p>
        </p:txBody>
      </p:sp>
      <p:sp>
        <p:nvSpPr>
          <p:cNvPr id="476" name="Rounded Rectangle 148"/>
          <p:cNvSpPr/>
          <p:nvPr/>
        </p:nvSpPr>
        <p:spPr>
          <a:xfrm>
            <a:off x="4297679" y="1463039"/>
            <a:ext cx="3566160" cy="38404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7" name="Rounded Rectangle 149"/>
          <p:cNvSpPr/>
          <p:nvPr/>
        </p:nvSpPr>
        <p:spPr>
          <a:xfrm>
            <a:off x="4297679" y="1463039"/>
            <a:ext cx="3566160" cy="731521"/>
          </a:xfrm>
          <a:prstGeom prst="roundRect">
            <a:avLst>
              <a:gd name="adj" fmla="val 6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TextBox 150"/>
          <p:cNvSpPr txBox="1"/>
          <p:nvPr/>
        </p:nvSpPr>
        <p:spPr>
          <a:xfrm>
            <a:off x="4453128" y="1575397"/>
            <a:ext cx="3255265" cy="506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defRPr sz="1300">
                <a:solidFill>
                  <a:srgbClr val="E8DA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Phase 2</a:t>
            </a:r>
          </a:p>
          <a:p>
            <a:pPr>
              <a:def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Stronger reasoning</a:t>
            </a:r>
          </a:p>
        </p:txBody>
      </p:sp>
      <p:sp>
        <p:nvSpPr>
          <p:cNvPr id="479" name="TextBox 151"/>
          <p:cNvSpPr txBox="1"/>
          <p:nvPr/>
        </p:nvSpPr>
        <p:spPr>
          <a:xfrm>
            <a:off x="4453128" y="2331720"/>
            <a:ext cx="3255265" cy="2146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→  LLM-based clause and fact extraction into a small schema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→  Intent decomposer + hybrid retrieval (BM25 + dense + RRF)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→  Nested exceptions, effective dates and precedence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→  Learned controller: RETRIEVE, WAIT, ASK or SUPPRESS</a:t>
            </a:r>
          </a:p>
        </p:txBody>
      </p:sp>
      <p:sp>
        <p:nvSpPr>
          <p:cNvPr id="480" name="Rounded Rectangle 152"/>
          <p:cNvSpPr/>
          <p:nvPr/>
        </p:nvSpPr>
        <p:spPr>
          <a:xfrm>
            <a:off x="8046718" y="1463039"/>
            <a:ext cx="3566161" cy="384048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CFE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1" name="Rounded Rectangle 153"/>
          <p:cNvSpPr/>
          <p:nvPr/>
        </p:nvSpPr>
        <p:spPr>
          <a:xfrm>
            <a:off x="8046718" y="1463039"/>
            <a:ext cx="3566161" cy="73152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2" name="TextBox 154"/>
          <p:cNvSpPr txBox="1"/>
          <p:nvPr/>
        </p:nvSpPr>
        <p:spPr>
          <a:xfrm>
            <a:off x="8202166" y="1575397"/>
            <a:ext cx="3255265" cy="5068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defRPr sz="1300">
                <a:solidFill>
                  <a:srgbClr val="E8DA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Phase 3</a:t>
            </a:r>
          </a:p>
          <a:p>
            <a:pPr>
              <a:def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Integration</a:t>
            </a:r>
          </a:p>
        </p:txBody>
      </p:sp>
      <p:sp>
        <p:nvSpPr>
          <p:cNvPr id="483" name="TextBox 155"/>
          <p:cNvSpPr txBox="1"/>
          <p:nvPr/>
        </p:nvSpPr>
        <p:spPr>
          <a:xfrm>
            <a:off x="8202166" y="2331720"/>
            <a:ext cx="3255265" cy="2146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/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→  Plug-in API for existing assistants (FastAPI + WebSocket)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→  Real LLM host + labelled benchmark vs a RAG baseline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→  On-device Galaxy integration, more Indian languages</a:t>
            </a:r>
          </a:p>
          <a:p>
            <a:pPr>
              <a:spcBef>
                <a:spcPts val="800"/>
              </a:spcBef>
              <a:defRPr sz="1500"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→  More domains: HR, finance, product support, compliance</a:t>
            </a:r>
          </a:p>
        </p:txBody>
      </p:sp>
      <p:sp>
        <p:nvSpPr>
          <p:cNvPr id="484" name="Rounded Rectangle 156"/>
          <p:cNvSpPr/>
          <p:nvPr/>
        </p:nvSpPr>
        <p:spPr>
          <a:xfrm>
            <a:off x="548640" y="5486400"/>
            <a:ext cx="11064241" cy="82296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5" name="TextBox 157"/>
          <p:cNvSpPr txBox="1"/>
          <p:nvPr/>
        </p:nvSpPr>
        <p:spPr>
          <a:xfrm>
            <a:off x="704088" y="5751025"/>
            <a:ext cx="10753343" cy="293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Our goal is not to replace AI assistants, but to give them a reliable applicability-reasoning capability.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149;p10"/>
          <p:cNvSpPr txBox="1"/>
          <p:nvPr>
            <p:ph type="title"/>
          </p:nvPr>
        </p:nvSpPr>
        <p:spPr>
          <a:xfrm>
            <a:off x="548639" y="256031"/>
            <a:ext cx="11064242" cy="685801"/>
          </a:xfrm>
          <a:prstGeom prst="rect">
            <a:avLst/>
          </a:prstGeom>
        </p:spPr>
        <p:txBody>
          <a:bodyPr/>
          <a:lstStyle>
            <a:lvl1pPr>
              <a:defRPr b="1" sz="3000">
                <a:solidFill>
                  <a:srgbClr val="704EA6"/>
                </a:solidFill>
              </a:defRPr>
            </a:lvl1pPr>
          </a:lstStyle>
          <a:p>
            <a:pPr/>
            <a:r>
              <a:t>Brownie points slide (differentiation)</a:t>
            </a:r>
          </a:p>
        </p:txBody>
      </p:sp>
      <p:sp>
        <p:nvSpPr>
          <p:cNvPr id="490" name="TextBox 149"/>
          <p:cNvSpPr txBox="1"/>
          <p:nvPr/>
        </p:nvSpPr>
        <p:spPr>
          <a:xfrm>
            <a:off x="612647" y="914399"/>
            <a:ext cx="10936226" cy="2965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>
            <a:spAutoFit/>
          </a:bodyPr>
          <a:lstStyle>
            <a:lvl1pPr>
              <a:defRPr sz="1800">
                <a:solidFill>
                  <a:srgbClr val="5E5E7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Why ClauseStream is different</a:t>
            </a:r>
          </a:p>
        </p:txBody>
      </p:sp>
      <p:graphicFrame>
        <p:nvGraphicFramePr>
          <p:cNvPr id="491" name="Table 150"/>
          <p:cNvGraphicFramePr/>
          <p:nvPr/>
        </p:nvGraphicFramePr>
        <p:xfrm>
          <a:off x="548640" y="1417319"/>
          <a:ext cx="7680960" cy="369417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743200"/>
                <a:gridCol w="1188720"/>
                <a:gridCol w="1280160"/>
                <a:gridCol w="1188720"/>
                <a:gridCol w="1280160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Capability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Standard RAG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Assistant memory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Rule engine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704E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ClauseStream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704EA6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Retrieves relevant knowledge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5E5E7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5E5E7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4D9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Tracks conversation context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B87900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5E5E7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4D9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Represents conditions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B87900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5E5E70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4D9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Checks rule applicability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4D9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Handles missing conditions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B87900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B87900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4D9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Updates when new facts arrive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B87900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4D9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Clause-level provenance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B87900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C0392B"/>
                          </a:solidFill>
                          <a:latin typeface="Calibri"/>
                          <a:ea typeface="Calibri"/>
                          <a:cs typeface="Calibri"/>
                        </a:rPr>
                        <a:t>No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4D9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2B2B3A"/>
                          </a:solidFill>
                          <a:latin typeface="Calibri"/>
                          <a:ea typeface="Calibri"/>
                          <a:cs typeface="Calibri"/>
                        </a:rPr>
                        <a:t>Works as an assistant plug-in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B87900"/>
                          </a:solidFill>
                          <a:latin typeface="Calibri"/>
                          <a:ea typeface="Calibri"/>
                          <a:cs typeface="Calibri"/>
                        </a:rPr>
                        <a:t>Partial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F8F5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0E8F7E"/>
                          </a:solidFill>
                          <a:latin typeface="Calibri"/>
                          <a:ea typeface="Calibri"/>
                          <a:cs typeface="Calibri"/>
                        </a:rPr>
                        <a:t>Yes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4D9F5"/>
                    </a:solidFill>
                  </a:tcPr>
                </a:tc>
              </a:tr>
            </a:tbl>
          </a:graphicData>
        </a:graphic>
      </p:graphicFrame>
      <p:sp>
        <p:nvSpPr>
          <p:cNvPr id="492" name="Rounded Rectangle 151"/>
          <p:cNvSpPr/>
          <p:nvPr/>
        </p:nvSpPr>
        <p:spPr>
          <a:xfrm>
            <a:off x="8503919" y="1417319"/>
            <a:ext cx="3108961" cy="2011681"/>
          </a:xfrm>
          <a:prstGeom prst="roundRect">
            <a:avLst>
              <a:gd name="adj" fmla="val 6000"/>
            </a:avLst>
          </a:prstGeom>
          <a:solidFill>
            <a:srgbClr val="704EA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3" name="TextBox 152"/>
          <p:cNvSpPr txBox="1"/>
          <p:nvPr/>
        </p:nvSpPr>
        <p:spPr>
          <a:xfrm>
            <a:off x="8613647" y="1602547"/>
            <a:ext cx="2889505" cy="1641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spcBef>
                <a:spcPts val="800"/>
              </a:spcBef>
              <a:defRPr b="1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Relevant ≠ Applicable</a:t>
            </a:r>
          </a:p>
          <a:p>
            <a:pPr>
              <a:spcBef>
                <a:spcPts val="800"/>
              </a:spcBef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Standard RAG answers from what it finds. ClauseStream first asks whether what it found actually applies.</a:t>
            </a:r>
          </a:p>
        </p:txBody>
      </p:sp>
      <p:sp>
        <p:nvSpPr>
          <p:cNvPr id="494" name="Rounded Rectangle 153"/>
          <p:cNvSpPr/>
          <p:nvPr/>
        </p:nvSpPr>
        <p:spPr>
          <a:xfrm>
            <a:off x="8503919" y="3611879"/>
            <a:ext cx="3108961" cy="1508761"/>
          </a:xfrm>
          <a:prstGeom prst="roundRect">
            <a:avLst>
              <a:gd name="adj" fmla="val 6000"/>
            </a:avLst>
          </a:prstGeom>
          <a:solidFill>
            <a:srgbClr val="F1ECF9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5" name="TextBox 154"/>
          <p:cNvSpPr txBox="1"/>
          <p:nvPr/>
        </p:nvSpPr>
        <p:spPr>
          <a:xfrm>
            <a:off x="8613647" y="3844098"/>
            <a:ext cx="2889505" cy="1044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/>
          <a:p>
            <a:pPr>
              <a:spcBef>
                <a:spcPts val="400"/>
              </a:spcBef>
              <a:defRPr b="1" sz="18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 hard-coded Q→A</a:t>
            </a:r>
          </a:p>
          <a:p>
            <a:pPr>
              <a:spcBef>
                <a:spcPts val="400"/>
              </a:spcBef>
              <a:defRPr>
                <a:solidFill>
                  <a:srgbClr val="2B2B3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Works from clauses + the user’s situation + conditions, not stored answers.</a:t>
            </a:r>
          </a:p>
        </p:txBody>
      </p:sp>
      <p:sp>
        <p:nvSpPr>
          <p:cNvPr id="496" name="Rounded Rectangle 155"/>
          <p:cNvSpPr/>
          <p:nvPr/>
        </p:nvSpPr>
        <p:spPr>
          <a:xfrm>
            <a:off x="548640" y="5440679"/>
            <a:ext cx="11064241" cy="822961"/>
          </a:xfrm>
          <a:prstGeom prst="roundRect">
            <a:avLst>
              <a:gd name="adj" fmla="val 6000"/>
            </a:avLst>
          </a:prstGeom>
          <a:solidFill>
            <a:srgbClr val="2E1A5C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7" name="TextBox 156"/>
          <p:cNvSpPr txBox="1"/>
          <p:nvPr/>
        </p:nvSpPr>
        <p:spPr>
          <a:xfrm>
            <a:off x="704088" y="5705305"/>
            <a:ext cx="10753343" cy="293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7432" tIns="27432" rIns="27432" bIns="27432" anchor="ctr">
            <a:spAutoFit/>
          </a:bodyPr>
          <a:lstStyle>
            <a:lvl1pPr algn="ctr">
              <a:defRPr b="1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One engine, two live domains (Samsung Care + travel policy), English + Hinglish, fully on-device.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704EA6"/>
                </a:solidFill>
              </a:defRPr>
            </a:lvl1pPr>
          </a:lstStyle>
          <a:p>
            <a:pPr/>
            <a:r>
              <a:t>Checklist- Updated on Public GitHub</a:t>
            </a:r>
          </a:p>
        </p:txBody>
      </p:sp>
      <p:sp>
        <p:nvSpPr>
          <p:cNvPr id="502" name="Google Shape;156;p1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177800" indent="-177800">
              <a:spcBef>
                <a:spcPts val="0"/>
              </a:spcBef>
              <a:buClr>
                <a:srgbClr val="63637E"/>
              </a:buClr>
              <a:defRPr>
                <a:solidFill>
                  <a:srgbClr val="63637E"/>
                </a:solidFill>
              </a:defRPr>
            </a:pPr>
            <a:r>
              <a:t>Working prototype code — public or shared GitHub repo (Y/N)</a:t>
            </a:r>
          </a:p>
          <a:p>
            <a:pPr marL="177800" indent="-177800">
              <a:spcBef>
                <a:spcPts val="1500"/>
              </a:spcBef>
              <a:buClr>
                <a:srgbClr val="63637E"/>
              </a:buClr>
              <a:defRPr>
                <a:solidFill>
                  <a:srgbClr val="63637E"/>
                </a:solidFill>
              </a:defRPr>
            </a:pPr>
            <a:r>
              <a:t>README with reproducible setup instructions (Y/N)</a:t>
            </a:r>
          </a:p>
          <a:p>
            <a:pPr marL="177800" indent="-177800">
              <a:spcBef>
                <a:spcPts val="1500"/>
              </a:spcBef>
              <a:buClr>
                <a:srgbClr val="63637E"/>
              </a:buClr>
              <a:defRPr>
                <a:solidFill>
                  <a:srgbClr val="63637E"/>
                </a:solidFill>
              </a:defRPr>
            </a:pPr>
            <a:r>
              <a:t>Demo video, max 5 minutes (YouTube or Drive link)</a:t>
            </a:r>
          </a:p>
          <a:p>
            <a:pPr marL="177800" indent="-177800">
              <a:spcBef>
                <a:spcPts val="1500"/>
              </a:spcBef>
              <a:buClr>
                <a:srgbClr val="63637E"/>
              </a:buClr>
              <a:defRPr>
                <a:solidFill>
                  <a:srgbClr val="63637E"/>
                </a:solidFill>
              </a:defRPr>
            </a:pPr>
            <a:r>
              <a:t>Presentation file (PPT or PDF) (Y/N)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162;p12"/>
          <p:cNvSpPr txBox="1"/>
          <p:nvPr/>
        </p:nvSpPr>
        <p:spPr>
          <a:xfrm>
            <a:off x="1046181" y="3831210"/>
            <a:ext cx="6766560" cy="666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600">
                <a:solidFill>
                  <a:srgbClr val="14142B"/>
                </a:solidFill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505" name="Google Shape;163;p12"/>
          <p:cNvSpPr txBox="1"/>
          <p:nvPr/>
        </p:nvSpPr>
        <p:spPr>
          <a:xfrm>
            <a:off x="777239" y="5977050"/>
            <a:ext cx="1060704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Organised by the Language AI Team and the PRISM Team, Samsung R&amp;D Institute India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