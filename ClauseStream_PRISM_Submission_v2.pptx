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8" r:id="rId18"/>
    <p:sldId id="260" r:id="rId9"/>
    <p:sldId id="261" r:id="rId10"/>
    <p:sldId id="262" r:id="rId11"/>
    <p:sldId id="263" r:id="rId12"/>
    <p:sldId id="270" r:id="rId20"/>
    <p:sldId id="269" r:id="rId19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customschemas.google.com/relationships/presentationmetadata" Target="metadata"/><Relationship Id="rId18" Type="http://schemas.openxmlformats.org/officeDocument/2006/relationships/slide" Target="slides/slide5.xml"/><Relationship Id="rId19" Type="http://schemas.openxmlformats.org/officeDocument/2006/relationships/slide" Target="slides/slide11.xml"/><Relationship Id="rId20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One-line pitch: assistants retrieve relevant information, but nobody checks if it applies to this user's situation. ClauseStream is that missing check, added as a plug-in.</a:t>
            </a:r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Each existing approach solves part of the problem. None answers: does this rule apply to this user right now?</a:t>
            </a:r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Stress: we do not replace the assistant. Existing assistant + ClauseStream plugin = context-aware responses.</a:t>
            </a:r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Live demo: pick Samsung Care in the dropdown and press Play demo. Key moments: step 2 asks instead of guessing; step 4 revises the answer and re-checks only 2 of 4 clauses. Then show the Hinglish chip and Test verifier.</a:t>
            </a:r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Be precise: everything in the cards is implemented. The italic line is the production roadmap, not part of the prototype.</a:t>
            </a:r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Go deep on the Care example, then show the same engine handles company travel policy. Next domains: HR, finance, product support, compliance.</a:t>
            </a:r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We do not claim nobody has done any of these individually. The contribution is the combination, packaged as an on-device plug-in.</a:t>
            </a:r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Phase 1 is what the prototype does today. Phase 2 and 3 are plans, including the FastAPI backend and real-LLM benchmark.</a:t>
            </a:r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Memorable line: Relevant is not the same as Applicable.</a:t>
            </a:r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6 steps left to right, top row then bottom row. They match the pipeline strip in the live prototype. Key differentiator is delta re-evaluation.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metrics are what we will benchmark against an LLM + RAG baseline. The three boxes are real prototype facts: 6 automated engine tests pass; in the demos each new fact re-checks 1 to 2 of 4 clauses.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Owning limitations makes the project look more credible. End on the reliability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059168" y="5669280"/>
            <a:ext cx="4572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5E5E70"/>
                </a:solidFill>
                <a:latin typeface="Calibri"/>
              </a:rPr>
              <a:t>Project: </a:t>
            </a:r>
            <a:r>
              <a:rPr sz="2000" b="1" i="0">
                <a:solidFill>
                  <a:srgbClr val="704EA6"/>
                </a:solidFill>
                <a:latin typeface="Calibri"/>
              </a:rPr>
              <a:t>ClauseStream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6035040"/>
            <a:ext cx="45720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2E1A5C"/>
                </a:solidFill>
                <a:latin typeface="Calibri"/>
              </a:rPr>
              <a:t>“Relevant is not enough. ClauseStream tells AI assistants what actually applies.”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Theme: Applicability-Aware AI Assistance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548640" y="109728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85800" y="1097280"/>
            <a:ext cx="1078991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AI assistants can find the right rule. ClauseStream checks whether it applies to YOU.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48640" y="2103120"/>
            <a:ext cx="11064240" cy="10515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77240" y="2130552"/>
            <a:ext cx="106070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704EA6"/>
                </a:solidFill>
                <a:latin typeface="Calibri"/>
              </a:rPr>
              <a:t>What is ClauseStream?  </a:t>
            </a:r>
            <a:r>
              <a:rPr sz="1700" b="0" i="0">
                <a:solidFill>
                  <a:srgbClr val="2B2B3A"/>
                </a:solidFill>
                <a:latin typeface="Calibri"/>
              </a:rPr>
              <a:t>A plug-in layer for existing AI assistants. It remembers the user’s situation during a chat, checks every retrieved rule or exception against it, and asks for a missing fact instead of guessing.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48640" y="333756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31520" y="3429000"/>
            <a:ext cx="1097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704EA6"/>
                </a:solidFill>
                <a:latin typeface="Calibri"/>
              </a:rPr>
              <a:t>01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45919" y="352044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1A5C"/>
                </a:solidFill>
                <a:latin typeface="Calibri"/>
              </a:rPr>
              <a:t>Understand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4114800"/>
            <a:ext cx="3200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Pull the user’s current situation out of the conversation (what happened, device age, plan, amounts…).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297679" y="333756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480559" y="3429000"/>
            <a:ext cx="1097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704EA6"/>
                </a:solidFill>
                <a:latin typeface="Calibri"/>
              </a:rPr>
              <a:t>02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94959" y="352044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1A5C"/>
                </a:solidFill>
                <a:latin typeface="Calibri"/>
              </a:rPr>
              <a:t>Evaluate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480559" y="4114800"/>
            <a:ext cx="3200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Match each retrieved rule against that situation: applies, doesn’t apply, or unknown.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046719" y="333756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599" y="3429000"/>
            <a:ext cx="10972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704EA6"/>
                </a:solidFill>
                <a:latin typeface="Calibri"/>
              </a:rPr>
              <a:t>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43999" y="352044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1A5C"/>
                </a:solidFill>
                <a:latin typeface="Calibri"/>
              </a:rPr>
              <a:t>Adapt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599" y="4114800"/>
            <a:ext cx="32004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Ask only for the missing fact that matters, and update only what changed.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48640" y="557784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5800" y="5577840"/>
            <a:ext cx="1078991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From  “What information is relevant?”</a:t>
            </a:r>
            <a:r>
              <a:rPr sz="2000" b="1" i="0">
                <a:solidFill>
                  <a:srgbClr val="D9C7F7"/>
                </a:solidFill>
                <a:latin typeface="Calibri"/>
              </a:rPr>
              <a:t>   →   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“What information actually applies?”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Today’s AI assistants are good at retrieving information, but not always at deciding when it applies.</a:t>
            </a:r>
          </a:p>
        </p:txBody>
      </p:sp>
      <p:graphicFrame>
        <p:nvGraphicFramePr>
          <p:cNvPr id="109" name="Table 108"/>
          <p:cNvGraphicFramePr>
            <a:graphicFrameLocks noGrp="1"/>
          </p:cNvGraphicFramePr>
          <p:nvPr/>
        </p:nvGraphicFramePr>
        <p:xfrm>
          <a:off x="548640" y="1463040"/>
          <a:ext cx="694944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301752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Existing approach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does well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Gap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Standard 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Finds relevant chunks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Can’t tell if a rule applies to this user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LLM reasoning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Understands language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May guess missing facts or miss exceptions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Conversation memory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Remembers earlier turns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Doesn’t link rules to the facts they need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Rule engines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Check conditions reliably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3A"/>
                          </a:solidFill>
                          <a:latin typeface="Calibri"/>
                        </a:rPr>
                        <a:t>Cut off from chat and retrieval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</a:tr>
            </a:tbl>
          </a:graphicData>
        </a:graphic>
      </p:graphicFrame>
      <p:sp>
        <p:nvSpPr>
          <p:cNvPr id="110" name="Rounded Rectangle 109"/>
          <p:cNvSpPr/>
          <p:nvPr/>
        </p:nvSpPr>
        <p:spPr>
          <a:xfrm>
            <a:off x="7772400" y="1463040"/>
            <a:ext cx="3840480" cy="3044952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955279" y="1536192"/>
            <a:ext cx="3474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04EA6"/>
                </a:solidFill>
                <a:latin typeface="Calibri"/>
              </a:rPr>
              <a:t>Example: Samsung Care warranty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55279" y="1965960"/>
            <a:ext cx="34747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2B2B3A"/>
                </a:solidFill>
                <a:latin typeface="Calibri"/>
              </a:rPr>
              <a:t>Defect, first 12 months: </a:t>
            </a:r>
            <a:r>
              <a:rPr sz="1500" b="0" i="0">
                <a:solidFill>
                  <a:srgbClr val="2B2B3A"/>
                </a:solidFill>
                <a:latin typeface="Calibri"/>
              </a:rPr>
              <a:t>free repair</a:t>
            </a:r>
          </a:p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2B2B3A"/>
                </a:solidFill>
                <a:latin typeface="Calibri"/>
              </a:rPr>
              <a:t>Accidental damage: </a:t>
            </a:r>
            <a:r>
              <a:rPr sz="1500" b="0" i="0">
                <a:solidFill>
                  <a:srgbClr val="2B2B3A"/>
                </a:solidFill>
                <a:latin typeface="Calibri"/>
              </a:rPr>
              <a:t>covered only with Care+</a:t>
            </a:r>
          </a:p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704EA6"/>
                </a:solidFill>
                <a:latin typeface="Calibri"/>
              </a:rPr>
              <a:t>User says: </a:t>
            </a:r>
            <a:r>
              <a:rPr sz="1500" b="0" i="1">
                <a:solidFill>
                  <a:srgbClr val="2B2B3A"/>
                </a:solidFill>
                <a:latin typeface="Calibri"/>
              </a:rPr>
              <a:t>“My screen cracked. Is it covered?”</a:t>
            </a:r>
          </a:p>
          <a:p>
            <a:pPr algn="l">
              <a:spcAft>
                <a:spcPts val="7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RAG retrieves both rules. Which one applies? It can’t tell.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48640" y="4709160"/>
            <a:ext cx="1554480" cy="8229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94360" y="4709160"/>
            <a:ext cx="146303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2B2B3A"/>
                </a:solidFill>
                <a:latin typeface="Calibri"/>
              </a:rPr>
              <a:t>User query</a:t>
            </a:r>
          </a:p>
        </p:txBody>
      </p:sp>
      <p:sp>
        <p:nvSpPr>
          <p:cNvPr id="115" name="Right Arrow 114"/>
          <p:cNvSpPr/>
          <p:nvPr/>
        </p:nvSpPr>
        <p:spPr>
          <a:xfrm>
            <a:off x="2130551" y="4937760"/>
            <a:ext cx="310896" cy="36576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2468879" y="4709160"/>
            <a:ext cx="2103120" cy="8229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514599" y="4709160"/>
            <a:ext cx="20116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2B2B3A"/>
                </a:solidFill>
                <a:latin typeface="Calibri"/>
              </a:rPr>
              <a:t>Retrieve relevant info</a:t>
            </a:r>
          </a:p>
        </p:txBody>
      </p:sp>
      <p:sp>
        <p:nvSpPr>
          <p:cNvPr id="118" name="Right Arrow 117"/>
          <p:cNvSpPr/>
          <p:nvPr/>
        </p:nvSpPr>
        <p:spPr>
          <a:xfrm>
            <a:off x="4599432" y="4937760"/>
            <a:ext cx="310896" cy="365760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4937760" y="4709160"/>
            <a:ext cx="2468880" cy="822960"/>
          </a:xfrm>
          <a:prstGeom prst="roundRect">
            <a:avLst>
              <a:gd name="adj" fmla="val 6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983480" y="4709160"/>
            <a:ext cx="237744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“Relevant” ≠ “Applicable”</a:t>
            </a:r>
          </a:p>
        </p:txBody>
      </p:sp>
      <p:sp>
        <p:nvSpPr>
          <p:cNvPr id="121" name="Right Arrow 120"/>
          <p:cNvSpPr/>
          <p:nvPr/>
        </p:nvSpPr>
        <p:spPr>
          <a:xfrm>
            <a:off x="7434072" y="4937760"/>
            <a:ext cx="310896" cy="36576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7772400" y="4709160"/>
            <a:ext cx="3931920" cy="82296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18120" y="4709160"/>
            <a:ext cx="384048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ClauseStream: check conditions + context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85800" y="5760720"/>
            <a:ext cx="10789919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The missing layer: </a:t>
            </a:r>
            <a:r>
              <a:rPr sz="2200" b="1" i="0">
                <a:solidFill>
                  <a:srgbClr val="E8DAFF"/>
                </a:solidFill>
                <a:latin typeface="Calibri"/>
              </a:rPr>
              <a:t>Applicability reasoning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Part 1: a plug-in for existing AI assistants, not a new assistant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48640" y="1600200"/>
            <a:ext cx="2377440" cy="25146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40080" y="1600200"/>
            <a:ext cx="2194560" cy="2514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1A5C"/>
                </a:solidFill>
                <a:latin typeface="Calibri"/>
              </a:rPr>
              <a:t>Existing AI Assistant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User chats with the assistant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3017520" y="2651760"/>
            <a:ext cx="502920" cy="41148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611880" y="1600200"/>
            <a:ext cx="4572000" cy="251460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703320" y="1691640"/>
            <a:ext cx="4389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Calibri"/>
              </a:rPr>
              <a:t>ClauseStream Layer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886200" y="2194560"/>
            <a:ext cx="4023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Situation tracking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Clause retrieval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Applicability check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Conflict detection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Incremental update</a:t>
            </a:r>
          </a:p>
        </p:txBody>
      </p:sp>
      <p:sp>
        <p:nvSpPr>
          <p:cNvPr id="121" name="Right Arrow 120"/>
          <p:cNvSpPr/>
          <p:nvPr/>
        </p:nvSpPr>
        <p:spPr>
          <a:xfrm>
            <a:off x="8275320" y="2651760"/>
            <a:ext cx="502920" cy="41148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8869680" y="1600200"/>
            <a:ext cx="2743200" cy="251460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961120" y="1600200"/>
            <a:ext cx="2560320" cy="2514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0E8F7E"/>
                </a:solidFill>
                <a:latin typeface="Calibri"/>
              </a:rPr>
              <a:t>Verified Context</a:t>
            </a:r>
          </a:p>
          <a:p>
            <a:pPr algn="ctr">
              <a:spcAft>
                <a:spcPts val="4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Only the rules that really apply</a:t>
            </a:r>
          </a:p>
          <a:p>
            <a:pPr algn="ctr">
              <a:spcAft>
                <a:spcPts val="400"/>
              </a:spcAft>
            </a:pPr>
            <a:r>
              <a:rPr sz="2000" b="1" i="0">
                <a:solidFill>
                  <a:srgbClr val="704EA6"/>
                </a:solidFill>
                <a:latin typeface="Calibri"/>
              </a:rPr>
              <a:t>↓</a:t>
            </a:r>
          </a:p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Existing assistant writes the final answer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48640" y="434340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31520" y="4389120"/>
            <a:ext cx="51206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704EA6"/>
                </a:solidFill>
                <a:latin typeface="Calibri"/>
              </a:rPr>
              <a:t>What does NOT change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Not the assistant. Not the underlying LLM. Not the user experience.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172200" y="4343400"/>
            <a:ext cx="544068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355080" y="4389120"/>
            <a:ext cx="512064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E8F7E"/>
                </a:solidFill>
                <a:latin typeface="Calibri"/>
              </a:rPr>
              <a:t>What we ADD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An applicability-aware reasoning layer between retrieved knowledge and response generation.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85800" y="5760720"/>
            <a:ext cx="10789919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Think of it as a fact-checker between your assistant’s search and its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Part 2: how ClauseStream works inside, in 6 steps (the same strip shown in the live demo)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48640" y="155448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85800" y="1691639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43000" y="1645920"/>
            <a:ext cx="2788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Track situation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800" y="2240280"/>
            <a:ext cx="3200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Pulls facts out of the chat (what happened, device age, plan) in English or Hinglish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4041647" y="2194560"/>
            <a:ext cx="283464" cy="32004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4343399" y="155448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480559" y="1691639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937759" y="1645920"/>
            <a:ext cx="2788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Retrieve clauses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80559" y="2240280"/>
            <a:ext cx="3200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Scores clauses by keywords across the whole conversation, boosted by facts already known</a:t>
            </a:r>
          </a:p>
        </p:txBody>
      </p:sp>
      <p:sp>
        <p:nvSpPr>
          <p:cNvPr id="124" name="Right Arrow 123"/>
          <p:cNvSpPr/>
          <p:nvPr/>
        </p:nvSpPr>
        <p:spPr>
          <a:xfrm>
            <a:off x="7836407" y="2194560"/>
            <a:ext cx="283464" cy="32004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138159" y="155448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275319" y="1691639"/>
            <a:ext cx="384048" cy="384048"/>
          </a:xfrm>
          <a:prstGeom prst="ellipse">
            <a:avLst/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732519" y="1645920"/>
            <a:ext cx="2788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Resolve applicability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75319" y="2240280"/>
            <a:ext cx="3200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Labels each clause APPLIES / NOT APPLICABLE / UNKNOWN; re-checks only clauses whose facts changed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48640" y="338328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43000" y="3474720"/>
            <a:ext cx="2788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Conflict check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5800" y="4069080"/>
            <a:ext cx="3200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Flags clashing rules (for example two limits at once) and applies precedence</a:t>
            </a:r>
          </a:p>
        </p:txBody>
      </p:sp>
      <p:sp>
        <p:nvSpPr>
          <p:cNvPr id="133" name="Right Arrow 132"/>
          <p:cNvSpPr/>
          <p:nvPr/>
        </p:nvSpPr>
        <p:spPr>
          <a:xfrm>
            <a:off x="4041647" y="4023360"/>
            <a:ext cx="283464" cy="32004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4343399" y="338328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4480559" y="352044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37759" y="3474720"/>
            <a:ext cx="2788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Clarify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80559" y="4069080"/>
            <a:ext cx="3200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Asks only for the missing fact that can change the answer</a:t>
            </a:r>
          </a:p>
        </p:txBody>
      </p:sp>
      <p:sp>
        <p:nvSpPr>
          <p:cNvPr id="138" name="Right Arrow 137"/>
          <p:cNvSpPr/>
          <p:nvPr/>
        </p:nvSpPr>
        <p:spPr>
          <a:xfrm>
            <a:off x="7836407" y="4023360"/>
            <a:ext cx="283464" cy="320040"/>
          </a:xfrm>
          <a:prstGeom prst="rightArrow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8138159" y="3383280"/>
            <a:ext cx="3474720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275319" y="352044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732519" y="3474720"/>
            <a:ext cx="27889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Verify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75319" y="4069080"/>
            <a:ext cx="32004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Every claim cites clause IDs; a clause-ID + entailment check blocks unsupported claims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5257800"/>
            <a:ext cx="11064240" cy="457200"/>
          </a:xfrm>
          <a:prstGeom prst="roundRect">
            <a:avLst>
              <a:gd name="adj" fmla="val 6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85800" y="5257800"/>
            <a:ext cx="10789919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Result: verified context, then the host assistant writes the answer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85800" y="5852160"/>
            <a:ext cx="10789919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New information triggers delta re-evaluation of only the affected clauses.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From an incomplete question to a verified answer (Samsung Care use case)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8640" y="1554480"/>
            <a:ext cx="256032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548640" y="1554480"/>
            <a:ext cx="2560320" cy="50292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40080" y="1554480"/>
            <a:ext cx="23774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9C7F7"/>
                </a:solidFill>
                <a:latin typeface="Calibri"/>
              </a:rPr>
              <a:t>STEP 1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User starts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" y="2121408"/>
            <a:ext cx="237744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1">
                <a:solidFill>
                  <a:srgbClr val="2B2B3A"/>
                </a:solidFill>
                <a:latin typeface="Calibri"/>
              </a:rPr>
              <a:t>“My phone screen cracked, is it covered?”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58368" y="3108960"/>
            <a:ext cx="2340864" cy="7315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3232" y="3108960"/>
            <a:ext cx="2231136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E1A5C"/>
                </a:solidFill>
                <a:latin typeface="Calibri"/>
              </a:rPr>
              <a:t>issue = ACCIDENTAL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E1A5C"/>
                </a:solidFill>
                <a:latin typeface="Calibri"/>
              </a:rPr>
              <a:t>care_plus = UNKNOWN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0080" y="3886200"/>
            <a:ext cx="237744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8F7E"/>
                </a:solidFill>
                <a:latin typeface="Calibri"/>
              </a:rPr>
              <a:t>Warranty rule ruled out; Care+ rule needs one more fact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383280" y="1554480"/>
            <a:ext cx="256032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3383280" y="1554480"/>
            <a:ext cx="2560320" cy="50292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74720" y="1554480"/>
            <a:ext cx="23774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9C7F7"/>
                </a:solidFill>
                <a:latin typeface="Calibri"/>
              </a:rPr>
              <a:t>STEP 2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Missing fact detected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474720" y="2121408"/>
            <a:ext cx="237744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Cover depends on Care+. Instead of guessing, ClauseStream asks: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493008" y="3108960"/>
            <a:ext cx="2340864" cy="7315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547872" y="3108960"/>
            <a:ext cx="2231136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E1A5C"/>
                </a:solidFill>
                <a:latin typeface="Calibri"/>
              </a:rPr>
              <a:t>“Do you have an active Samsung Care+ plan?”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17920" y="1554480"/>
            <a:ext cx="256032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6217920" y="1554480"/>
            <a:ext cx="2560320" cy="50292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309359" y="1554480"/>
            <a:ext cx="23774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9C7F7"/>
                </a:solidFill>
                <a:latin typeface="Calibri"/>
              </a:rPr>
              <a:t>STEP 3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User gives a fact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309359" y="2121408"/>
            <a:ext cx="237744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1">
                <a:solidFill>
                  <a:srgbClr val="2B2B3A"/>
                </a:solidFill>
                <a:latin typeface="Calibri"/>
              </a:rPr>
              <a:t>“No, I don’t have Care+.”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27648" y="3108960"/>
            <a:ext cx="2340864" cy="7315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382512" y="3108960"/>
            <a:ext cx="2231136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E1A5C"/>
                </a:solidFill>
                <a:latin typeface="Calibri"/>
              </a:rPr>
              <a:t>care_plus = NO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309359" y="3886200"/>
            <a:ext cx="237744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8F7E"/>
                </a:solidFill>
                <a:latin typeface="Calibri"/>
              </a:rPr>
              <a:t>Not covered: repair is chargeable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052560" y="1554480"/>
            <a:ext cx="256032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9052560" y="1554480"/>
            <a:ext cx="2560320" cy="50292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144000" y="1554480"/>
            <a:ext cx="23774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9C7F7"/>
                </a:solidFill>
                <a:latin typeface="Calibri"/>
              </a:rPr>
              <a:t>STEP 4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New fact arrives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0" y="2121408"/>
            <a:ext cx="2377440" cy="960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1">
                <a:solidFill>
                  <a:srgbClr val="2B2B3A"/>
                </a:solidFill>
                <a:latin typeface="Calibri"/>
              </a:rPr>
              <a:t>“Sorry, I just activated Care+ yesterday.”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9162288" y="3108960"/>
            <a:ext cx="2340864" cy="7315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217152" y="3108960"/>
            <a:ext cx="2231136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E1A5C"/>
                </a:solidFill>
                <a:latin typeface="Calibri"/>
              </a:rPr>
              <a:t>Answer revised: only 2 of 4 clauses re-checked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0" y="3886200"/>
            <a:ext cx="237744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E8F7E"/>
                </a:solidFill>
                <a:latin typeface="Calibri"/>
              </a:rPr>
              <a:t>Now covered by Care+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548640" y="46634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85800" y="4663440"/>
            <a:ext cx="10789919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D9C7F7"/>
                </a:solidFill>
                <a:latin typeface="Calibri"/>
              </a:rPr>
              <a:t>Final answer: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Covered by your Samsung Care+ plan, with a service fee per claim. Bring your purchase invoice and phone IMEI to the service centre.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48640" y="5715000"/>
            <a:ext cx="3566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48640" y="5715000"/>
            <a:ext cx="35661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E8F7E"/>
                </a:solidFill>
                <a:latin typeface="Calibri"/>
              </a:rPr>
              <a:t>No silent assumptions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297679" y="5715000"/>
            <a:ext cx="3566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297679" y="5715000"/>
            <a:ext cx="35661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E8F7E"/>
                </a:solidFill>
                <a:latin typeface="Calibri"/>
              </a:rPr>
              <a:t>Only the affected clauses re-checked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046719" y="5715000"/>
            <a:ext cx="3566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46719" y="5715000"/>
            <a:ext cx="3566160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E8F7E"/>
                </a:solidFill>
                <a:latin typeface="Calibri"/>
              </a:rPr>
              <a:t>Hinglish-ready, runs on-device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Built and running in the prototype, with a reason for each tool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8640" y="1508760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58368" y="1581912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INTERFACE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8368" y="187451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HTML + CSS + JavaScript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8368" y="2377439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Single-page app: open index.html and it runs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395167" y="1508760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504895" y="1581912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RETRIEVAL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504895" y="187451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IDF keyword scoring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04895" y="2377439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Finds candidate clauses; boosted by known facts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41694" y="1508760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351422" y="1581912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EXTRACTION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351422" y="187451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Pattern-based extractor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1422" y="2377439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Reads facts from English and Hinglish messages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088221" y="1508760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E4D9F5"/>
          </a:solidFill>
          <a:ln w="12700">
            <a:solidFill>
              <a:srgbClr val="704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97949" y="1581912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APPLICABILITY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97949" y="187451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Deterministic evaluator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97949" y="2377439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Checks each clause’s conditions with plain code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48640" y="3291839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58368" y="3364991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STATE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58368" y="365759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Situation + delta cache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8368" y="4160520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Re-checks only clauses whose facts changed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395167" y="3291839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504895" y="3364991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VERIFICATION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04895" y="365759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Claim ledger + verifier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04895" y="4160520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Clause-ID and entailment checks block unsupported claims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241694" y="3291839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351422" y="3364991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TESTING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351422" y="365759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Node test suite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51422" y="4160520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6 automated tests cover the engine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9088221" y="3291839"/>
            <a:ext cx="2523744" cy="160020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197949" y="3364991"/>
            <a:ext cx="2340863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PRIVACY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97949" y="3657599"/>
            <a:ext cx="2340863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E1A5C"/>
                </a:solidFill>
                <a:latin typeface="Calibri"/>
              </a:rPr>
              <a:t>Fully client-side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197949" y="4160520"/>
            <a:ext cx="2340863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No server or API keys; user data stays on device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5166360"/>
            <a:ext cx="11064240" cy="73152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85800" y="5166360"/>
            <a:ext cx="10789919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Deterministic code decides what applies.  </a:t>
            </a:r>
            <a:r>
              <a:rPr sz="2200" b="1" i="0">
                <a:solidFill>
                  <a:srgbClr val="E8DAFF"/>
                </a:solidFill>
                <a:latin typeface="Calibri"/>
              </a:rPr>
              <a:t>No cloud call needed.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1">
                <a:solidFill>
                  <a:srgbClr val="5E5E70"/>
                </a:solidFill>
                <a:latin typeface="Calibri"/>
              </a:rPr>
              <a:t>Planned for production: FastAPI + WebSocket, FAISS + SQLite FTS5 hybrid retrieval, LLM-based extraction, Docker Compose.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Main use case: Samsung Care warranty support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48640" y="1463040"/>
            <a:ext cx="5577840" cy="3749039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31520" y="150876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704EA6"/>
                </a:solidFill>
                <a:latin typeface="Calibri"/>
              </a:rPr>
              <a:t>Samsung Care policy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31520" y="1874519"/>
            <a:ext cx="52120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B2B3A"/>
                </a:solidFill>
                <a:latin typeface="Calibri"/>
              </a:rPr>
              <a:t>Defect within 12 months: free repair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B2B3A"/>
                </a:solidFill>
                <a:latin typeface="Calibri"/>
              </a:rPr>
              <a:t>Accidental damage: covered only with Care+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B2B3A"/>
                </a:solidFill>
                <a:latin typeface="Calibri"/>
              </a:rPr>
              <a:t>Anything else: chargeable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31520" y="2926080"/>
            <a:ext cx="5212080" cy="2240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04EA6"/>
                </a:solidFill>
                <a:latin typeface="Calibri"/>
              </a:rPr>
              <a:t>User: </a:t>
            </a:r>
            <a:r>
              <a:rPr sz="1500" b="0" i="1">
                <a:solidFill>
                  <a:srgbClr val="2B2B3A"/>
                </a:solidFill>
                <a:latin typeface="Calibri"/>
              </a:rPr>
              <a:t>“My screen cracked, is it covered?”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E8F7E"/>
                </a:solidFill>
                <a:latin typeface="Calibri"/>
              </a:rPr>
              <a:t>AI: </a:t>
            </a:r>
            <a:r>
              <a:rPr sz="1500" b="0" i="1">
                <a:solidFill>
                  <a:srgbClr val="2B2B3A"/>
                </a:solidFill>
                <a:latin typeface="Calibri"/>
              </a:rPr>
              <a:t>“Do you have an active Care+ plan?”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04EA6"/>
                </a:solidFill>
                <a:latin typeface="Calibri"/>
              </a:rPr>
              <a:t>User: </a:t>
            </a:r>
            <a:r>
              <a:rPr sz="1500" b="0" i="1">
                <a:solidFill>
                  <a:srgbClr val="2B2B3A"/>
                </a:solidFill>
                <a:latin typeface="Calibri"/>
              </a:rPr>
              <a:t>“No.” </a:t>
            </a:r>
            <a:r>
              <a:rPr sz="1500" b="1" i="0">
                <a:solidFill>
                  <a:srgbClr val="0E8F7E"/>
                </a:solidFill>
                <a:latin typeface="Calibri"/>
              </a:rPr>
              <a:t>→ chargeable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04EA6"/>
                </a:solidFill>
                <a:latin typeface="Calibri"/>
              </a:rPr>
              <a:t>User: </a:t>
            </a:r>
            <a:r>
              <a:rPr sz="1500" b="0" i="1">
                <a:solidFill>
                  <a:srgbClr val="2B2B3A"/>
                </a:solidFill>
                <a:latin typeface="Calibri"/>
              </a:rPr>
              <a:t>“I activated it yesterday.” </a:t>
            </a:r>
            <a:r>
              <a:rPr sz="1500" b="1" i="0">
                <a:solidFill>
                  <a:srgbClr val="0E8F7E"/>
                </a:solidFill>
                <a:latin typeface="Calibri"/>
              </a:rPr>
              <a:t>→ covered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Answer: </a:t>
            </a:r>
            <a:r>
              <a:rPr sz="1500" b="1" i="0">
                <a:solidFill>
                  <a:srgbClr val="2E1A5C"/>
                </a:solidFill>
                <a:latin typeface="Calibri"/>
              </a:rPr>
              <a:t>covered by Care+, with a service fee.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1463040"/>
            <a:ext cx="25146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492240" y="16002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92240" y="2057400"/>
            <a:ext cx="22402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More precise answers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92240" y="2560320"/>
            <a:ext cx="2240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Fewer wrong coverage decisions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9006840" y="1463040"/>
            <a:ext cx="25146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144000" y="160020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0" y="2057400"/>
            <a:ext cx="22402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Targeted questions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144000" y="2560320"/>
            <a:ext cx="2240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Ask only what can change the answer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6355080" y="3383280"/>
            <a:ext cx="25146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6492240" y="352044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3977640"/>
            <a:ext cx="22402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Incremental updates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92240" y="4480560"/>
            <a:ext cx="2240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New facts change only dependent rules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06840" y="3383280"/>
            <a:ext cx="25146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9144000" y="3520440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0" y="3977640"/>
            <a:ext cx="224028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E1A5C"/>
                </a:solidFill>
                <a:latin typeface="Calibri"/>
              </a:rPr>
              <a:t>Traceable decisions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0" y="4480560"/>
            <a:ext cx="2240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Every answer points to its clause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48640" y="544068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5800" y="5440680"/>
            <a:ext cx="1078991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D9C7F7"/>
                </a:solidFill>
                <a:latin typeface="Calibri"/>
              </a:rPr>
              <a:t>One engine, two live domains: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Samsung Care + travel policy • English + Hinglish • fully on-device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Part 1/3: Innovation highlights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48640" y="1463040"/>
            <a:ext cx="1737360" cy="28803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40080" y="15087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704EA6"/>
                </a:solidFill>
                <a:latin typeface="Calibri"/>
              </a:rPr>
              <a:t>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0080" y="2057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Applicability-aware RAG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40080" y="2834640"/>
            <a:ext cx="15544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Checks if each retrieved rule applies to the user, not just if it is relevant.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414016" y="1463040"/>
            <a:ext cx="1737360" cy="28803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505456" y="15087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704EA6"/>
                </a:solidFill>
                <a:latin typeface="Calibri"/>
              </a:rPr>
              <a:t>02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505456" y="2057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Situation-driven retrieval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505456" y="2834640"/>
            <a:ext cx="15544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Search uses facts gathered across the whole chat.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279392" y="1463040"/>
            <a:ext cx="1737360" cy="28803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370831" y="15087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704EA6"/>
                </a:solidFill>
                <a:latin typeface="Calibri"/>
              </a:rPr>
              <a:t>03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370831" y="2057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Incremental reasoning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70831" y="2834640"/>
            <a:ext cx="15544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A new fact re-checks only the rules that depend on it.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44768" y="1463040"/>
            <a:ext cx="1737360" cy="28803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236207" y="15087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704EA6"/>
                </a:solidFill>
                <a:latin typeface="Calibri"/>
              </a:rPr>
              <a:t>04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236207" y="2057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Explicit uncertainty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36207" y="2834640"/>
            <a:ext cx="15544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Missing info is marked UNKNOWN, never guessed.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010144" y="1463040"/>
            <a:ext cx="1737360" cy="28803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101583" y="15087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704EA6"/>
                </a:solidFill>
                <a:latin typeface="Calibri"/>
              </a:rPr>
              <a:t>05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101583" y="2057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Verified claims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101583" y="2834640"/>
            <a:ext cx="15544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Every claim cites a clause; unsupported ones are blocked.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875519" y="1463040"/>
            <a:ext cx="1737360" cy="28803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966959" y="1508760"/>
            <a:ext cx="9144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704EA6"/>
                </a:solidFill>
                <a:latin typeface="Calibri"/>
              </a:rPr>
              <a:t>06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966959" y="2057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E1A5C"/>
                </a:solidFill>
                <a:latin typeface="Calibri"/>
              </a:rPr>
              <a:t>On-device + Hinglish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966959" y="2834640"/>
            <a:ext cx="15544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Runs fully in the browser and understands English and Hinglish.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4526280"/>
            <a:ext cx="36576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E5E70"/>
                </a:solidFill>
                <a:latin typeface="Calibri"/>
              </a:rPr>
              <a:t>Every rule gets one of 3 labels: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4206240" y="4526280"/>
            <a:ext cx="2331720" cy="45720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206240" y="4526280"/>
            <a:ext cx="23317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E8F7E"/>
                </a:solidFill>
                <a:latin typeface="Calibri"/>
              </a:rPr>
              <a:t>APPLIES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720840" y="4526280"/>
            <a:ext cx="2331720" cy="457200"/>
          </a:xfrm>
          <a:prstGeom prst="roundRect">
            <a:avLst>
              <a:gd name="adj" fmla="val 6000"/>
            </a:avLst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720840" y="4526280"/>
            <a:ext cx="23317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NOT APPLICABLE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9235440" y="4526280"/>
            <a:ext cx="2331720" cy="457200"/>
          </a:xfrm>
          <a:prstGeom prst="roundRect">
            <a:avLst>
              <a:gd name="adj" fmla="val 6000"/>
            </a:avLst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235440" y="4526280"/>
            <a:ext cx="23317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B87900"/>
                </a:solidFill>
                <a:latin typeface="Calibri"/>
              </a:rPr>
              <a:t>UNKNOWN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548640" y="52120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85800" y="5212080"/>
            <a:ext cx="10789919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We combine streaming situation tracking, clause-level retrieval, applicability reasoning and delta-based revision as a modular, on-device capability for existing AI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Part 2/3: Results. Prototype evidence so far, and how we will measure the rest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48640" y="1417320"/>
            <a:ext cx="25603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85800" y="1527048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85800" y="196596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1A5C"/>
                </a:solidFill>
                <a:latin typeface="Calibri"/>
              </a:rPr>
              <a:t>Applicability accuracy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85800" y="2514600"/>
            <a:ext cx="22860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Does it correctly identify which clauses apply?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58368" y="3383280"/>
            <a:ext cx="2340863" cy="9601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31520" y="3401568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Measured by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1A5C"/>
                </a:solidFill>
                <a:latin typeface="Calibri"/>
              </a:rPr>
              <a:t>Precision / Recall / F1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383279" y="1417320"/>
            <a:ext cx="25603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20439" y="1527048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20439" y="196596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1A5C"/>
                </a:solidFill>
                <a:latin typeface="Calibri"/>
              </a:rPr>
              <a:t>Clarification quality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520439" y="2514600"/>
            <a:ext cx="22860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Does it ask when a missing fact can change the answer?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493008" y="3383280"/>
            <a:ext cx="2340863" cy="9601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566160" y="3401568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Measured by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1A5C"/>
                </a:solidFill>
                <a:latin typeface="Calibri"/>
              </a:rPr>
              <a:t>Needed questions asked vs unnecessary ones avoided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217919" y="1417320"/>
            <a:ext cx="25603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355079" y="1527048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355079" y="196596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1A5C"/>
                </a:solidFill>
                <a:latin typeface="Calibri"/>
              </a:rPr>
              <a:t>Incremental efficiency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55079" y="2514600"/>
            <a:ext cx="22860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Does late information force a full re-run?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327647" y="3383280"/>
            <a:ext cx="2340863" cy="9601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400799" y="3401568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Measured by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1A5C"/>
                </a:solidFill>
                <a:latin typeface="Calibri"/>
              </a:rPr>
              <a:t>Full re-run vs delta re-evaluation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052559" y="1417320"/>
            <a:ext cx="256032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9189719" y="1527048"/>
            <a:ext cx="384048" cy="384048"/>
          </a:xfrm>
          <a:prstGeom prst="ellipse">
            <a:avLst/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189719" y="196596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1A5C"/>
                </a:solidFill>
                <a:latin typeface="Calibri"/>
              </a:rPr>
              <a:t>Answer reliability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189719" y="2514600"/>
            <a:ext cx="228600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Are generated claims supported by retrieved clauses?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162287" y="3383280"/>
            <a:ext cx="2340863" cy="96012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235439" y="3401568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04EA6"/>
                </a:solidFill>
                <a:latin typeface="Calibri"/>
              </a:rPr>
              <a:t>Measured by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1A5C"/>
                </a:solidFill>
                <a:latin typeface="Calibri"/>
              </a:rPr>
              <a:t>Unsupported claims blocked / citation check rate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457200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85800" y="4572000"/>
            <a:ext cx="10789919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Next: a labelled benchmark against an LLM + standard RAG baseline.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48640" y="516636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04EA6"/>
                </a:solidFill>
                <a:latin typeface="Calibri"/>
              </a:rPr>
              <a:t>Measured so far in the prototype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48640" y="5486400"/>
            <a:ext cx="3566160" cy="86868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40080" y="5486400"/>
            <a:ext cx="1371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F7E"/>
                </a:solidFill>
                <a:latin typeface="Calibri"/>
              </a:rPr>
              <a:t>6 / 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011680" y="5486400"/>
            <a:ext cx="20574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B2B3A"/>
                </a:solidFill>
                <a:latin typeface="Calibri"/>
              </a:rPr>
              <a:t>engine tests passing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297679" y="5486400"/>
            <a:ext cx="3566160" cy="86868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389119" y="5486400"/>
            <a:ext cx="1371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F7E"/>
                </a:solidFill>
                <a:latin typeface="Calibri"/>
              </a:rPr>
              <a:t>1–2 of 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760719" y="5486400"/>
            <a:ext cx="20574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B2B3A"/>
                </a:solidFill>
                <a:latin typeface="Calibri"/>
              </a:rPr>
              <a:t>clauses re-checked per new fact, not a full re-run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8046719" y="5486400"/>
            <a:ext cx="3566160" cy="86868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138159" y="5486400"/>
            <a:ext cx="1371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E8F7E"/>
                </a:solidFill>
                <a:latin typeface="Calibri"/>
              </a:rPr>
              <a:t>2 domains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59" y="5486400"/>
            <a:ext cx="20574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B2B3A"/>
                </a:solidFill>
                <a:latin typeface="Calibri"/>
              </a:rPr>
              <a:t>one engine: Samsung Care + travel policy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Part 3/3: Limitations, and how we handle them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48640" y="146304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31520" y="1536192"/>
            <a:ext cx="5074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04EA6"/>
                </a:solidFill>
                <a:latin typeface="Calibri"/>
              </a:rPr>
              <a:t>Fact and clause extraction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31520" y="1920240"/>
            <a:ext cx="50749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The prototype uses simple pattern matching and hand-written clauses, so unusual phrasing can be missed.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31520" y="2514600"/>
            <a:ext cx="507492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8F7E"/>
                </a:solidFill>
                <a:latin typeface="Calibri"/>
              </a:rPr>
              <a:t>Mitigation: </a:t>
            </a:r>
            <a:r>
              <a:rPr sz="1500" b="0" i="0">
                <a:solidFill>
                  <a:srgbClr val="2B2B3A"/>
                </a:solidFill>
                <a:latin typeface="Calibri"/>
              </a:rPr>
              <a:t>LLM extraction into a small schema + human-labelled validation set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6172200" y="146304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355080" y="1536192"/>
            <a:ext cx="5074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04EA6"/>
                </a:solidFill>
                <a:latin typeface="Calibri"/>
              </a:rPr>
              <a:t>Complex dependencies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55080" y="1920240"/>
            <a:ext cx="50749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Nested exceptions and cross-references are hard to evaluate automatically.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355080" y="2514600"/>
            <a:ext cx="507492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8F7E"/>
                </a:solidFill>
                <a:latin typeface="Calibri"/>
              </a:rPr>
              <a:t>Mitigation: </a:t>
            </a:r>
            <a:r>
              <a:rPr sz="1500" b="0" i="0">
                <a:solidFill>
                  <a:srgbClr val="2B2B3A"/>
                </a:solidFill>
                <a:latin typeface="Calibri"/>
              </a:rPr>
              <a:t>Explicit dependency links; return UNKNOWN instead of guessing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48640" y="338328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31520" y="3456432"/>
            <a:ext cx="5074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04EA6"/>
                </a:solidFill>
                <a:latin typeface="Calibri"/>
              </a:rPr>
              <a:t>Clarification overhead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3840480"/>
            <a:ext cx="50749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Too many questions would frustrate users.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434840"/>
            <a:ext cx="507492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8F7E"/>
                </a:solidFill>
                <a:latin typeface="Calibri"/>
              </a:rPr>
              <a:t>Mitigation: </a:t>
            </a:r>
            <a:r>
              <a:rPr sz="1500" b="0" i="0">
                <a:solidFill>
                  <a:srgbClr val="2B2B3A"/>
                </a:solidFill>
                <a:latin typeface="Calibri"/>
              </a:rPr>
              <a:t>Ask only when the missing fact can change the answer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172200" y="3383280"/>
            <a:ext cx="5440680" cy="178308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355080" y="3456432"/>
            <a:ext cx="5074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04EA6"/>
                </a:solidFill>
                <a:latin typeface="Calibri"/>
              </a:rPr>
              <a:t>Corpus dependence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6355080" y="3840480"/>
            <a:ext cx="5074920" cy="594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The system can’t reason beyond the knowledge it is given.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355080" y="4434840"/>
            <a:ext cx="507492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E8F7E"/>
                </a:solidFill>
                <a:latin typeface="Calibri"/>
              </a:rPr>
              <a:t>Mitigation: </a:t>
            </a:r>
            <a:r>
              <a:rPr sz="1500" b="0" i="0">
                <a:solidFill>
                  <a:srgbClr val="2B2B3A"/>
                </a:solidFill>
                <a:latin typeface="Calibri"/>
              </a:rPr>
              <a:t>Explicit uncertainty + clause-level provenance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48640" y="539496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85800" y="5394960"/>
            <a:ext cx="10789919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When evidence is insufficient, the system prefers “I need one more fact” over a confident guess.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A realistic roadmap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48640" y="1463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ounded Rectangle 145"/>
          <p:cNvSpPr/>
          <p:nvPr/>
        </p:nvSpPr>
        <p:spPr>
          <a:xfrm>
            <a:off x="548640" y="1463040"/>
            <a:ext cx="3566160" cy="731520"/>
          </a:xfrm>
          <a:prstGeom prst="roundRect">
            <a:avLst>
              <a:gd name="adj" fmla="val 6000"/>
            </a:avLst>
          </a:prstGeom>
          <a:solidFill>
            <a:srgbClr val="0E8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85800" y="1463040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8DAFF"/>
                </a:solidFill>
                <a:latin typeface="Calibri"/>
              </a:rPr>
              <a:t>Phase 1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Current prototype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5800" y="2331720"/>
            <a:ext cx="329184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✓  Clause index, 2 domains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✓  Situation tracking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✓  Applicability resolver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✓  Targeted clarification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✓  Clause-level verification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✓  Streaming + delta re-evaluation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✓  Hinglish + on-device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297679" y="1463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4297679" y="1463040"/>
            <a:ext cx="3566160" cy="73152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434840" y="1463040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8DAFF"/>
                </a:solidFill>
                <a:latin typeface="Calibri"/>
              </a:rPr>
              <a:t>Phase 2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Stronger reasoning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434840" y="2331720"/>
            <a:ext cx="329184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LLM-based clause and fact extraction into a small schema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Intent decomposer + hybrid retrieval (BM25 + dense + RRF)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Nested exceptions, effective dates and precedence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Learned controller: RETRIEVE, WAIT, ASK or SUPPRESS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46719" y="1463040"/>
            <a:ext cx="356616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C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8046719" y="1463040"/>
            <a:ext cx="3566160" cy="73152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183879" y="1463040"/>
            <a:ext cx="32918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8DAFF"/>
                </a:solidFill>
                <a:latin typeface="Calibri"/>
              </a:rPr>
              <a:t>Phase 3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Integration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183879" y="2331720"/>
            <a:ext cx="329184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Plug-in API for existing assistants (FastAPI + WebSocket)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Real LLM host + labelled benchmark vs a RAG baseline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On-device Galaxy integration, more Indian languages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2B2B3A"/>
                </a:solidFill>
                <a:latin typeface="Calibri"/>
              </a:rPr>
              <a:t>→  More domains: HR, finance, product support, compliance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48640" y="54864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85800" y="5486400"/>
            <a:ext cx="1078991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Our goal is not to replace AI assistants, but to give them a reliable applicability-reasoning capability.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548640" y="256032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0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 (differentiation)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548640" y="914400"/>
            <a:ext cx="11064240" cy="411480"/>
          </a:xfrm>
          <a:prstGeom prst="rect">
            <a:avLst/>
          </a:prstGeom>
          <a:noFill/>
        </p:spPr>
        <p:txBody>
          <a:bodyPr wrap="square" anchor="t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E5E70"/>
                </a:solidFill>
                <a:latin typeface="Calibri"/>
              </a:rPr>
              <a:t>Why ClauseStream is different</a:t>
            </a:r>
          </a:p>
        </p:txBody>
      </p:sp>
      <p:graphicFrame>
        <p:nvGraphicFramePr>
          <p:cNvPr id="151" name="Table 150"/>
          <p:cNvGraphicFramePr>
            <a:graphicFrameLocks noGrp="1"/>
          </p:cNvGraphicFramePr>
          <p:nvPr/>
        </p:nvGraphicFramePr>
        <p:xfrm>
          <a:off x="548640" y="1417320"/>
          <a:ext cx="7680960" cy="3694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280160"/>
                <a:gridCol w="118872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Standard RAG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Assistant memory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Rule engine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ClauseStream</a:t>
                      </a:r>
                    </a:p>
                  </a:txBody>
                  <a:tcPr marL="73152" marR="73152" marT="27432" marB="27432" anchor="ctr">
                    <a:solidFill>
                      <a:srgbClr val="704EA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Retrieves relevant knowledge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E5E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E5E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Tracks conversation context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8790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E5E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Represents conditions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8790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5E5E7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Checks rule applicability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Handles missing conditions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8790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8790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Updates when new facts arrive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8790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Clause-level provenance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8790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3A"/>
                          </a:solidFill>
                          <a:latin typeface="Calibri"/>
                        </a:rPr>
                        <a:t>Works as an assistant plug-in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87900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 marL="73152" marR="73152" marT="27432" marB="27432" anchor="ctr">
                    <a:solidFill>
                      <a:srgbClr val="F8F5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E8F7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 anchor="ctr">
                    <a:solidFill>
                      <a:srgbClr val="E4D9F5"/>
                    </a:solidFill>
                  </a:tcPr>
                </a:tc>
              </a:tr>
            </a:tbl>
          </a:graphicData>
        </a:graphic>
      </p:graphicFrame>
      <p:sp>
        <p:nvSpPr>
          <p:cNvPr id="152" name="Rounded Rectangle 151"/>
          <p:cNvSpPr/>
          <p:nvPr/>
        </p:nvSpPr>
        <p:spPr>
          <a:xfrm>
            <a:off x="8503920" y="1417320"/>
            <a:ext cx="3108960" cy="2011680"/>
          </a:xfrm>
          <a:prstGeom prst="roundRect">
            <a:avLst>
              <a:gd name="adj" fmla="val 6000"/>
            </a:avLst>
          </a:prstGeom>
          <a:solidFill>
            <a:srgbClr val="704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595360" y="1417320"/>
            <a:ext cx="2926080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Relevant ≠ Applicable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Standard RAG answers from what it finds. ClauseStream first asks whether what it found actually applies.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503920" y="3611880"/>
            <a:ext cx="3108960" cy="1508760"/>
          </a:xfrm>
          <a:prstGeom prst="roundRect">
            <a:avLst>
              <a:gd name="adj" fmla="val 6000"/>
            </a:avLst>
          </a:prstGeom>
          <a:solidFill>
            <a:srgbClr val="F1EC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95360" y="3611880"/>
            <a:ext cx="29260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04EA6"/>
                </a:solidFill>
                <a:latin typeface="Calibri"/>
              </a:rPr>
              <a:t>No hard-coded Q→A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B2B3A"/>
                </a:solidFill>
                <a:latin typeface="Calibri"/>
              </a:rPr>
              <a:t>Works from clauses + the user’s situation + conditions, not stored answers.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548640" y="544068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2E1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85800" y="5440680"/>
            <a:ext cx="1078991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One engine, two live domains (Samsung Care + travel policy), English + Hinglish, fully on-device.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